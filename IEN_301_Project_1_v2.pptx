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 id="2147483661" r:id="rId6"/>
  </p:sldMasterIdLst>
  <p:notesMasterIdLst>
    <p:notesMasterId r:id="rId7"/>
  </p:notesMasterIdLst>
  <p:sldIdLst>
    <p:sldId id="275" r:id="rId31"/>
    <p:sldId id="257" r:id="rId9"/>
    <p:sldId id="258" r:id="rId10"/>
    <p:sldId id="259" r:id="rId11"/>
    <p:sldId id="260" r:id="rId12"/>
    <p:sldId id="276" r:id="rId32"/>
    <p:sldId id="277" r:id="rId33"/>
    <p:sldId id="278" r:id="rId34"/>
    <p:sldId id="279" r:id="rId35"/>
    <p:sldId id="280" r:id="rId36"/>
    <p:sldId id="281" r:id="rId37"/>
    <p:sldId id="282" r:id="rId38"/>
    <p:sldId id="283" r:id="rId39"/>
    <p:sldId id="284" r:id="rId40"/>
    <p:sldId id="285" r:id="rId41"/>
    <p:sldId id="286" r:id="rId42"/>
    <p:sldId id="287" r:id="rId43"/>
  </p:sldIdLst>
  <p:sldSz cy="5143500" cx="9144000"/>
  <p:notesSz cx="6858000" cy="9144000"/>
  <p:embeddedFontLst>
    <p:embeddedFont>
      <p:font typeface="Quattrocento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09977B7-E36E-42CD-BEEE-EC8A0416F217}">
  <a:tblStyle styleId="{609977B7-E36E-42CD-BEEE-EC8A0416F21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27" Type="http://schemas.openxmlformats.org/officeDocument/2006/relationships/font" Target="fonts/QuattrocentoSans-regular.fntdata"/><Relationship Id="rId28" Type="http://schemas.openxmlformats.org/officeDocument/2006/relationships/font" Target="fonts/QuattrocentoSans-bold.fntdata"/><Relationship Id="rId29" Type="http://schemas.openxmlformats.org/officeDocument/2006/relationships/font" Target="fonts/QuattrocentoSans-italic.fntdata"/><Relationship Id="rId30" Type="http://schemas.openxmlformats.org/officeDocument/2006/relationships/font" Target="fonts/QuattrocentoSans-boldItalic.fntdata"/><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Good morning. We are team First Drop, and this is our problem framing for IEN301. Our topic is a small moment everyone with a warm shower knows: the water is running, but nobody is washing yet. Today we will define who lives this moment, show what two interviewees told us about it, and explain why it persists.</a:t>
            </a:r>
          </a:p>
          <a:p/>
          <a:p>
            <a:r>
              <a:t>Click: title and label appear with the slide. Click 1: subtitle. Click 2: team names.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Picture turning on your shower. Water is flowing. Washing has not begun. That interval, between the tap and the first wash, is the whole of our project. Everything on the next slides is about what happens to the water and to the person during those minutes.</a:t>
            </a:r>
          </a:p>
          <a:p/>
          <a:p>
            <a:r>
              <a:t>Click: 'Water is flowing' is visible on entry. Click 1: 'Washing has not begun'.</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Our user is not 'people' or 'residents' in general. It is adults in UAE homes who shower with warm water and wait three to five minutes for it to arrive. Both were asked the same open question and answered in minutes without being offered a number: three to four, and three to five. The situation is the same for both: the tap is on, cold water runs to the drain, and they wait. How they wait differs, and that matters later.</a:t>
            </a:r>
          </a:p>
          <a:p/>
          <a:p>
            <a:r>
              <a:t>Click: headline on entry. Click 1: situation line. Click 2: the two waiting behaviours and context.</a:t>
            </a:r>
          </a:p>
          <a:p/>
          <a:p>
            <a:r>
              <a:t>Recording refs: I1 00:22 '3 to 4 minutes'; I2 00:16 '3 to 5 minutes'; I1 00:45; I2 00:40.</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Why does water run before use? First, the water sitting in the pipe has cooled since the last shower, and it has to clear before hot water arrives. Second, once the water is warm, the person may not be there to notice. Both intervals send clean water to the drain.</a:t>
            </a:r>
          </a:p>
          <a:p/>
          <a:p>
            <a:r>
              <a:t>Click: stage 01 on entry. Click 1: stage 02.</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Before the interviews, we assumed a thirty-second wait. At the RSB flow rate of 8.7 litres a minute, that is 4.35 litres per shower. Then we listened. Mr Ali reported three to four minutes and Ryan three to five; at a four-minute wait the same flow rate gives about 35 litres per shower. The number is illustrative, but the order of magnitude changed.</a:t>
            </a:r>
          </a:p>
          <a:p/>
          <a:p>
            <a:r>
              <a:t>Click: '30 seconds' on entry. Click 1: 4.35 litres and the formula. Click 2: the interview line.</a:t>
            </a:r>
          </a:p>
          <a:p/>
          <a:p>
            <a:r>
              <a:t>Recording refs: I1 00:22; I2 00:16. 8.7 × 4 = 34.8 L.</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Our evidence comes from two recorded, face-to-face interviews on 27 September, about two and a half minutes each, five minutes in total. We asked both people the same five questions. Mr Ali is an older man who waits outside the bathroom; Ryan is a young man who stays and waits. A third interview was recorded, but its file has not reached us, so nothing from it is on these slides.</a:t>
            </a:r>
          </a:p>
          <a:p/>
          <a:p>
            <a:r>
              <a:t>Click: '2 interviews' on entry. Click 1: '5:15 minutes'. Click 2: the five questions. Click 3: who we interviewed.</a:t>
            </a:r>
          </a:p>
          <a:p/>
          <a:p>
            <a:r>
              <a:t>Recording refs: Video files 16.41.50 (2:48) and 16.42.14 (2:27).</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Here is what we heard, word for word. Mr Ali: about three to four minutes. Ryan: I just let the water run until it gets warm and just sit there. Mr Ali again: I'm waiting outside. And when we asked how much is lost: no idea, at least a bucket. Nobody measures the loss, and nobody is doing anything with the water.</a:t>
            </a:r>
          </a:p>
          <a:p/>
          <a:p>
            <a:r>
              <a:t>Click: headline on entry. Click 1–4: one quote per click, left to right, top to bottom.</a:t>
            </a:r>
          </a:p>
          <a:p/>
          <a:p>
            <a:r>
              <a:t>Recording refs: I1 00:22; I2 00:40; I1 00:45; I1 00:34. Also I2 00:16 '3 to 5 minutes', I1 00:56 'goes down the drain', I2 00:30 'probably a lot'.</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Three things we did not know at the start. One: the wait is minutes, not seconds; our thirty-second assumption was off by six to ten times. Two: nobody measures the loss; both people could only guess. Three: waiting looks different in each home. Mr Ali leaves the bathroom; Ryan stays. In both cases the water goes down the drain.</a:t>
            </a:r>
          </a:p>
          <a:p/>
          <a:p>
            <a:r>
              <a:t>Click: label on entry. Click 1–3: one finding per click.</a:t>
            </a:r>
          </a:p>
          <a:p/>
          <a:p>
            <a:r>
              <a:t>Recording refs: I1 00:22, I2 00:16 (wait); I1 00:34, I2 00:30 (no idea); I1 00:45, I2 00:40 (behaviour); I1 00:56, I2 00:52 (drain).</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replaced the unsourced yearly figures from our first draft with a calculation you can check on the slide. 8.7 litres a minute, times the reported wait, times one shower a day, times 365. Three minutes gives about nine and a half thousand litres a year; four minutes about twelve thousand seven hundred; five minutes about sixteen thousand. Our original thirty-second assumption would have been under sixteen hundred.</a:t>
            </a:r>
          </a:p>
          <a:p/>
          <a:p>
            <a:r>
              <a:t>Click: formula on entry. Click 1–3: the three yearly figures. Click 4: the comparison line.</a:t>
            </a:r>
          </a:p>
          <a:p/>
          <a:p>
            <a:r>
              <a:t>Recording refs: Wait times: I1 00:22, I2 00:16. Computation in evidence.md §4.</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brings us to our point of view. Adults in UAE homes who shower with warm water need a way to stop the three-to-five-minute warm-up from sending clean water down the drain, because the wait is passive time, they step out or wait it out, and nobody sees how much is lost. The sequence is always the same: turn on, cold water drains, wait, shower.</a:t>
            </a:r>
          </a:p>
          <a:p/>
          <a:p>
            <a:r>
              <a:t>Click: label on entry. Click 1: the POV statement. Click 2–5: the four steps of the flow.</a:t>
            </a:r>
          </a:p>
          <a:p/>
          <a:p>
            <a:r>
              <a:t>Recording refs: I1 00:22, 00:34, 00:45, 00:56; I2 00:16, 00:30, 00:40, 00:52.</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Why does this persist? Habit: you turn it on and wait; the run-off is never handled. Cost signal: nobody can see the loss, so nothing prompts a change. Systems: in a typical home the water is heated away from the shower, and re-plumbing is out of most residents' hands; we have not yet confirmed the setup in these two homes. Climate and routine are plausible constraints we still have to verify; we are honest about that on the slide.</a:t>
            </a:r>
          </a:p>
          <a:p/>
          <a:p>
            <a:r>
              <a:t>Click: headline on entry. Click 1–5: one card per click. Click 6: the context footnote.</a:t>
            </a:r>
          </a:p>
          <a:p/>
          <a:p>
            <a:r>
              <a:t>Recording refs: I1 00:45, 00:34, 00:56; I2 00:40, 00:30, 00:52.</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What do users do today? Mr Ali turns it on and walks away; Ryan stands by and waits. Neither collects the water; a bucket means handling, and one of them is not even in the room. The published options do not fit these users either: a shut-off valve still drains the cold slug first and needs installing, and a recirculation loop means re-plumbing the home, which a tenant cannot do; we did not ask about tenure.</a:t>
            </a:r>
          </a:p>
          <a:p/>
          <a:p>
            <a:r>
              <a:t>Click: headers on entry. Click 1–5: one row per click.</a:t>
            </a:r>
          </a:p>
          <a:p/>
          <a:p>
            <a:r>
              <a:t>Recording refs: I1 00:45, 00:56; I2 00:40, 00:52. EPA 2026 for rows 4–5.</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Now, what we learned about our own thinking. We started with one assumption: the wait is about thirty seconds, so the loss is a few litres. We treated it as a minor annoyance rather than a routine.</a:t>
            </a:r>
          </a:p>
          <a:p/>
          <a:p>
            <a:r>
              <a:t>Click: headline on entry. Click 1: the two assumption lines.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Four lines changed our mind. Three to four minutes. Three to five minutes. No idea, at least a bucket. And two different ways of waiting: outside the room, or sitting there. The reported wait is six to ten times longer than we assumed, and the loss is invisible to the people living it.</a:t>
            </a:r>
          </a:p>
          <a:p/>
          <a:p>
            <a:r>
              <a:t>Click: label on entry. Click 1–4: one quote per click. Click 5: the '6–10×' number.</a:t>
            </a:r>
          </a:p>
          <a:p/>
          <a:p>
            <a:r>
              <a:t>Recording refs: I1 00:22, 00:34, 00:45; I2 00:16, 00:40.</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Here is how the point of view sharpened. Before: residents waste water while waiting for hot water. Any resident, no measure, no cause. After: adults in UAE homes who shower with warm water need a way to stop the three-to-five-minute warm-up from sending clean water down the drain, because the wait is passive time and nobody sees how much is lost. Same moment, but now with a user, a reported wait, a described behaviour and a reason.</a:t>
            </a:r>
          </a:p>
          <a:p/>
          <a:p>
            <a:r>
              <a:t>Click: 'Before' statement on entry. Click 1: its gaps. Click 2: the 'After' statement. Click 3: what it gained.</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That is our problem framing. We leave the point of view on screen and welcome your questions. We have both recordings and the transcripts with timestamps if you want to check any quote.</a:t>
            </a:r>
          </a:p>
          <a:p/>
          <a:p>
            <a:r>
              <a:t>Click: 'Questions?' on entry. Click 1: the POV in small text.</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Hidden appendix. Not presented; used during Q&amp;A to point to the exact moment in each recording.</a:t>
            </a:r>
          </a:p>
          <a:p/>
          <a:p>
            <a:r>
              <a:t>Click: no builds.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7.png"/><Relationship Id="rId3" Type="http://schemas.openxmlformats.org/officeDocument/2006/relationships/notesSlide" Target="../notesSlides/notesSlide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80D"/>
        </a:solidFill>
      </p:bgPr>
    </p:bg>
    <p:spTree>
      <p:nvGrpSpPr>
        <p:cNvPr id="62" name="Shape 62"/>
        <p:cNvGrpSpPr/>
        <p:nvPr/>
      </p:nvGrpSpPr>
      <p:grpSpPr>
        <a:xfrm>
          <a:off x="0" y="0"/>
          <a:ext cx="0" cy="0"/>
          <a:chOff x="0" y="0"/>
          <a:chExt cx="0" cy="0"/>
        </a:xfrm>
      </p:grpSpPr>
      <p:pic>
        <p:nvPicPr>
          <p:cNvPr id="63" name="Google Shape;63;p16"/>
          <p:cNvPicPr preferRelativeResize="0"/>
          <p:nvPr/>
        </p:nvPicPr>
        <p:blipFill rotWithShape="1">
          <a:blip r:embed="rId3">
            <a:alphaModFix/>
          </a:blip>
          <a:srcRect b="20" l="0" r="0" t="30"/>
          <a:stretch/>
        </p:blipFill>
        <p:spPr>
          <a:xfrm>
            <a:off x="0" y="0"/>
            <a:ext cx="9144001" cy="5143501"/>
          </a:xfrm>
          <a:prstGeom prst="rect">
            <a:avLst/>
          </a:prstGeom>
          <a:noFill/>
          <a:ln>
            <a:noFill/>
          </a:ln>
        </p:spPr>
      </p:pic>
      <p:sp>
        <p:nvSpPr>
          <p:cNvPr id="64" name="Google Shape;64;p16"/>
          <p:cNvSpPr/>
          <p:nvPr/>
        </p:nvSpPr>
        <p:spPr>
          <a:xfrm>
            <a:off x="571500" y="357188"/>
            <a:ext cx="8001000" cy="2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100">
                <a:solidFill>
                  <a:srgbClr val="80D6FF"/>
                </a:solidFill>
                <a:latin typeface="Quattrocento Sans"/>
                <a:ea typeface="Quattrocento Sans"/>
                <a:cs typeface="Quattrocento Sans"/>
                <a:sym typeface="Quattrocento Sans"/>
              </a:rPr>
              <a:t>THE MOMENT</a:t>
            </a:r>
            <a:endParaRPr sz="1100"/>
          </a:p>
        </p:txBody>
      </p:sp>
      <p:sp>
        <p:nvSpPr>
          <p:cNvPr id="65" name="Google Shape;65;p16"/>
          <p:cNvSpPr/>
          <p:nvPr/>
        </p:nvSpPr>
        <p:spPr>
          <a:xfrm>
            <a:off x="557213" y="1214438"/>
            <a:ext cx="5143500" cy="1243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4100">
                <a:solidFill>
                  <a:srgbClr val="FFFFFF"/>
                </a:solidFill>
                <a:latin typeface="Quattrocento Sans"/>
                <a:ea typeface="Quattrocento Sans"/>
                <a:cs typeface="Quattrocento Sans"/>
                <a:sym typeface="Quattrocento Sans"/>
              </a:rPr>
              <a:t>Water is</a:t>
            </a:r>
            <a:endParaRPr sz="1100"/>
          </a:p>
          <a:p>
            <a:pPr indent="0" lvl="0" marL="0" marR="0" rtl="0" algn="l">
              <a:spcBef>
                <a:spcPts val="0"/>
              </a:spcBef>
              <a:spcAft>
                <a:spcPts val="0"/>
              </a:spcAft>
              <a:buNone/>
            </a:pPr>
            <a:r>
              <a:rPr b="1" lang="en" sz="4100">
                <a:solidFill>
                  <a:srgbClr val="FFFFFF"/>
                </a:solidFill>
                <a:latin typeface="Quattrocento Sans"/>
                <a:ea typeface="Quattrocento Sans"/>
                <a:cs typeface="Quattrocento Sans"/>
                <a:sym typeface="Quattrocento Sans"/>
              </a:rPr>
              <a:t>flowing</a:t>
            </a:r>
            <a:endParaRPr sz="1100"/>
          </a:p>
        </p:txBody>
      </p:sp>
      <p:sp>
        <p:nvSpPr>
          <p:cNvPr id="66" name="Google Shape;66;p16"/>
          <p:cNvSpPr/>
          <p:nvPr/>
        </p:nvSpPr>
        <p:spPr>
          <a:xfrm>
            <a:off x="557213" y="2650331"/>
            <a:ext cx="5215200" cy="1243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4100">
                <a:solidFill>
                  <a:srgbClr val="80D6FF"/>
                </a:solidFill>
                <a:latin typeface="Quattrocento Sans"/>
                <a:ea typeface="Quattrocento Sans"/>
                <a:cs typeface="Quattrocento Sans"/>
                <a:sym typeface="Quattrocento Sans"/>
              </a:rPr>
              <a:t>Washing has</a:t>
            </a:r>
            <a:endParaRPr sz="1100"/>
          </a:p>
          <a:p>
            <a:pPr indent="0" lvl="0" marL="0" marR="0" rtl="0" algn="l">
              <a:spcBef>
                <a:spcPts val="0"/>
              </a:spcBef>
              <a:spcAft>
                <a:spcPts val="0"/>
              </a:spcAft>
              <a:buNone/>
            </a:pPr>
            <a:r>
              <a:rPr b="1" lang="en" sz="4100">
                <a:solidFill>
                  <a:srgbClr val="80D6FF"/>
                </a:solidFill>
                <a:latin typeface="Quattrocento Sans"/>
                <a:ea typeface="Quattrocento Sans"/>
                <a:cs typeface="Quattrocento Sans"/>
                <a:sym typeface="Quattrocento Sans"/>
              </a:rPr>
              <a:t>not begun</a:t>
            </a:r>
            <a:endParaRPr sz="1100"/>
          </a:p>
        </p:txBody>
      </p:sp>
      <p:sp>
        <p:nvSpPr>
          <p:cNvPr id="67" name="Google Shape;67;p16"/>
          <p:cNvSpPr/>
          <p:nvPr/>
        </p:nvSpPr>
        <p:spPr>
          <a:xfrm>
            <a:off x="571500" y="4793456"/>
            <a:ext cx="7644000" cy="18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00">
                <a:solidFill>
                  <a:srgbClr val="B5C1CC"/>
                </a:solidFill>
                <a:latin typeface="Quattrocento Sans"/>
                <a:ea typeface="Quattrocento Sans"/>
                <a:cs typeface="Quattrocento Sans"/>
                <a:sym typeface="Quattrocento Sans"/>
              </a:rPr>
              <a:t>The interval we are investigating</a:t>
            </a:r>
            <a:endParaRPr sz="1100"/>
          </a:p>
        </p:txBody>
      </p:sp>
      <p:sp>
        <p:nvSpPr>
          <p:cNvPr id="68" name="Google Shape;68;p16"/>
          <p:cNvSpPr/>
          <p:nvPr/>
        </p:nvSpPr>
        <p:spPr>
          <a:xfrm>
            <a:off x="8358188" y="4793456"/>
            <a:ext cx="357300" cy="19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00">
                <a:solidFill>
                  <a:srgbClr val="B5C1CC"/>
                </a:solidFill>
                <a:latin typeface="Quattrocento Sans"/>
                <a:ea typeface="Quattrocento Sans"/>
                <a:cs typeface="Quattrocento Sans"/>
                <a:sym typeface="Quattrocento Sans"/>
              </a:rPr>
              <a:t>02</a:t>
            </a:r>
            <a:endParaRPr sz="1100"/>
          </a:p>
        </p:txBody>
      </p:sp>
    </p:spTree>
  </p:cSld>
  <p:clrMapOvr>
    <a:masterClrMapping/>
  </p:clrMapOvr>
  <mc:AlternateContent>
    <mc:Choice Requires="p14">
      <p:transition spd="fast" p14:dur="500">
        <p:fade/>
      </p:transition>
    </mc:Choice>
    <mc:Fallback>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500"/>
                                        <p:tgtEl>
                                          <p:spTgt spid="6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5"/>
                                        </p:tgtEl>
                                        <p:attrNameLst>
                                          <p:attrName>style.visibility</p:attrName>
                                        </p:attrNameLst>
                                      </p:cBhvr>
                                      <p:to>
                                        <p:strVal val="visible"/>
                                      </p:to>
                                    </p:set>
                                    <p:animEffect transition="in" filter="fade">
                                      <p:cBhvr>
                                        <p:cTn id="10" dur="500"/>
                                        <p:tgtEl>
                                          <p:spTgt spid="6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6"/>
                                        </p:tgtEl>
                                        <p:attrNameLst>
                                          <p:attrName>style.visibility</p:attrName>
                                        </p:attrNameLst>
                                      </p:cBhvr>
                                      <p:to>
                                        <p:strVal val="visible"/>
                                      </p:to>
                                    </p:set>
                                    <p:animEffect transition="in" filter="fade">
                                      <p:cBhvr>
                                        <p:cTn id="15"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5" grpId="0" animBg="1"/>
      <p:bldP spid="66" grpId="0" animBg="1"/>
    </p:bld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9"/>
        </a:solidFill>
        <a:effectLst/>
      </p:bgPr>
    </p:bg>
    <p:spTree>
      <p:nvGrpSpPr>
        <p:cNvPr id="73" name="Shape 73"/>
        <p:cNvGrpSpPr/>
        <p:nvPr/>
      </p:nvGrpSpPr>
      <p:grpSpPr>
        <a:xfrm>
          <a:off x="0" y="0"/>
          <a:ext cx="0" cy="0"/>
          <a:chOff x="0" y="0"/>
          <a:chExt cx="0" cy="0"/>
        </a:xfrm>
      </p:grpSpPr>
      <p:sp>
        <p:nvSpPr>
          <p:cNvPr id="74" name="Section label"/>
          <p:cNvSpPr txBox="1"/>
          <p:nvPr/>
        </p:nvSpPr>
        <p:spPr>
          <a:xfrm>
            <a:off x="566928" y="356616"/>
            <a:ext cx="8001000" cy="2103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100" b="1">
                <a:solidFill>
                  <a:srgbClr val="006FE8"/>
                </a:solidFill>
                <a:latin typeface="Quattrocento Sans"/>
                <a:ea typeface="Quattrocento Sans"/>
                <a:cs typeface="Quattrocento Sans"/>
                <a:sym typeface="Quattrocento Sans"/>
              </a:rPr>
              <a:t>USER &amp; CONTEXT DEFINITION</a:t>
            </a:r>
          </a:p>
        </p:txBody>
      </p:sp>
      <p:sp>
        <p:nvSpPr>
          <p:cNvPr id="75" name="Headline"/>
          <p:cNvSpPr txBox="1"/>
          <p:nvPr/>
        </p:nvSpPr>
        <p:spPr>
          <a:xfrm>
            <a:off x="539496" y="960120"/>
            <a:ext cx="8211312"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3000" b="1">
                <a:solidFill>
                  <a:srgbClr val="111820"/>
                </a:solidFill>
                <a:latin typeface="Quattrocento Sans"/>
                <a:ea typeface="Quattrocento Sans"/>
                <a:cs typeface="Quattrocento Sans"/>
                <a:sym typeface="Quattrocento Sans"/>
              </a:rPr>
              <a:t>Adults in UAE homes</a:t>
            </a:r>
          </a:p>
          <a:p>
            <a:pPr indent="0" lvl="0" marL="0" marR="0" rtl="0" algn="l">
              <a:spcBef>
                <a:spcPts val="0"/>
              </a:spcBef>
              <a:spcAft>
                <a:spcPts val="0"/>
              </a:spcAft>
              <a:buNone/>
            </a:pPr>
            <a:r>
              <a:rPr lang="en" sz="3000" b="1">
                <a:solidFill>
                  <a:srgbClr val="111820"/>
                </a:solidFill>
                <a:latin typeface="Quattrocento Sans"/>
                <a:ea typeface="Quattrocento Sans"/>
                <a:cs typeface="Quattrocento Sans"/>
                <a:sym typeface="Quattrocento Sans"/>
              </a:rPr>
              <a:t>who shower with warm water</a:t>
            </a:r>
          </a:p>
          <a:p>
            <a:pPr indent="0" lvl="0" marL="0" marR="0" rtl="0" algn="l">
              <a:spcBef>
                <a:spcPts val="0"/>
              </a:spcBef>
              <a:spcAft>
                <a:spcPts val="0"/>
              </a:spcAft>
              <a:buNone/>
            </a:pPr>
            <a:r>
              <a:rPr lang="en" sz="3000" b="1">
                <a:solidFill>
                  <a:srgbClr val="111820"/>
                </a:solidFill>
                <a:latin typeface="Quattrocento Sans"/>
                <a:ea typeface="Quattrocento Sans"/>
                <a:cs typeface="Quattrocento Sans"/>
                <a:sym typeface="Quattrocento Sans"/>
              </a:rPr>
              <a:t>and wait 3–5 minutes for it to arrive</a:t>
            </a:r>
          </a:p>
        </p:txBody>
      </p:sp>
      <p:sp>
        <p:nvSpPr>
          <p:cNvPr id="76" name="Situation"/>
          <p:cNvSpPr txBox="1"/>
          <p:nvPr/>
        </p:nvSpPr>
        <p:spPr>
          <a:xfrm>
            <a:off x="566928" y="2788920"/>
            <a:ext cx="795528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700" b="1">
                <a:solidFill>
                  <a:srgbClr val="006FE8"/>
                </a:solidFill>
                <a:latin typeface="Quattrocento Sans"/>
                <a:ea typeface="Quattrocento Sans"/>
                <a:cs typeface="Quattrocento Sans"/>
                <a:sym typeface="Quattrocento Sans"/>
              </a:rPr>
              <a:t>Situation: the tap is on, cold water runs to the drain, and they wait</a:t>
            </a:r>
          </a:p>
        </p:txBody>
      </p:sp>
      <p:sp>
        <p:nvSpPr>
          <p:cNvPr id="77" name="Context"/>
          <p:cNvSpPr txBox="1"/>
          <p:nvPr/>
        </p:nvSpPr>
        <p:spPr>
          <a:xfrm>
            <a:off x="566928" y="3200400"/>
            <a:ext cx="795528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300"/>
              </a:spcAft>
              <a:buNone/>
            </a:pPr>
            <a:r>
              <a:rPr lang="en" sz="1400" b="0">
                <a:solidFill>
                  <a:srgbClr val="52606D"/>
                </a:solidFill>
                <a:latin typeface="Quattrocento Sans"/>
                <a:ea typeface="Quattrocento Sans"/>
                <a:cs typeface="Quattrocento Sans"/>
                <a:sym typeface="Quattrocento Sans"/>
              </a:rPr>
              <a:t>Outside the bathroom (“I’m waiting outside” — Interviewee 1)</a:t>
            </a:r>
          </a:p>
          <a:p>
            <a:pPr indent="0" lvl="0" marL="0" marR="0" rtl="0" algn="l">
              <a:spcBef>
                <a:spcPts val="0"/>
              </a:spcBef>
              <a:spcAft>
                <a:spcPts val="300"/>
              </a:spcAft>
              <a:buNone/>
            </a:pPr>
            <a:r>
              <a:rPr lang="en" sz="1400" b="0">
                <a:solidFill>
                  <a:srgbClr val="52606D"/>
                </a:solidFill>
                <a:latin typeface="Quattrocento Sans"/>
                <a:ea typeface="Quattrocento Sans"/>
                <a:cs typeface="Quattrocento Sans"/>
                <a:sym typeface="Quattrocento Sans"/>
              </a:rPr>
              <a:t>or standing by (“I just let the water run… and just sit there” — Interviewee 2)</a:t>
            </a:r>
          </a:p>
          <a:p>
            <a:pPr indent="0" lvl="0" marL="0" marR="0" rtl="0" algn="l">
              <a:spcBef>
                <a:spcPts val="0"/>
              </a:spcBef>
              <a:spcAft>
                <a:spcPts val="0"/>
              </a:spcAft>
              <a:buNone/>
            </a:pPr>
            <a:r>
              <a:rPr lang="en" sz="1400" b="0">
                <a:solidFill>
                  <a:srgbClr val="52606D"/>
                </a:solidFill>
                <a:latin typeface="Quattrocento Sans"/>
                <a:ea typeface="Quattrocento Sans"/>
                <a:cs typeface="Quattrocento Sans"/>
                <a:sym typeface="Quattrocento Sans"/>
              </a:rPr>
              <a:t>Context: UAE homes; interviewed face-to-face, 27 Sept 2026</a:t>
            </a:r>
          </a:p>
        </p:txBody>
      </p:sp>
      <p:sp>
        <p:nvSpPr>
          <p:cNvPr id="78" name="Footer caveat"/>
          <p:cNvSpPr txBox="1"/>
          <p:nvPr/>
        </p:nvSpPr>
        <p:spPr>
          <a:xfrm>
            <a:off x="566928" y="4791456"/>
            <a:ext cx="7644384"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900" b="0">
                <a:solidFill>
                  <a:srgbClr val="52606D"/>
                </a:solidFill>
                <a:latin typeface="Quattrocento Sans"/>
                <a:ea typeface="Quattrocento Sans"/>
                <a:cs typeface="Quattrocento Sans"/>
                <a:sym typeface="Quattrocento Sans"/>
              </a:rPr>
              <a:t>2 recorded interviews. UAE inferred from the setting, not stated. Home type, heating setup and tenure not asked — to confirm in interview 3.</a:t>
            </a:r>
          </a:p>
        </p:txBody>
      </p:sp>
      <p:sp>
        <p:nvSpPr>
          <p:cNvPr id="79" name="Slide number"/>
          <p:cNvSpPr txBox="1"/>
          <p:nvPr/>
        </p:nvSpPr>
        <p:spPr>
          <a:xfrm>
            <a:off x="8357616" y="4791456"/>
            <a:ext cx="356616"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000" b="0">
                <a:solidFill>
                  <a:srgbClr val="52606D"/>
                </a:solidFill>
                <a:latin typeface="Quattrocento Sans"/>
                <a:ea typeface="Quattrocento Sans"/>
                <a:cs typeface="Quattrocento Sans"/>
                <a:sym typeface="Quattrocento Sans"/>
              </a:rPr>
              <a:t>03</a:t>
            </a:r>
          </a:p>
        </p:txBody>
      </p:sp>
    </p:spTree>
  </p:cSld>
  <p:clrMapOvr>
    <a:masterClrMapping/>
  </p:clrMapOvr>
  <mc:AlternateContent>
    <mc:Choice Requires="p14">
      <p:transition spd="fast" p14:dur="500">
        <p:fade/>
      </p:transition>
    </mc:Choice>
    <mc:Fallback>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fade">
                                      <p:cBhvr>
                                        <p:cTn id="7" dur="500"/>
                                        <p:tgtEl>
                                          <p:spTgt spid="7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5"/>
                                        </p:tgtEl>
                                        <p:attrNameLst>
                                          <p:attrName>style.visibility</p:attrName>
                                        </p:attrNameLst>
                                      </p:cBhvr>
                                      <p:to>
                                        <p:strVal val="visible"/>
                                      </p:to>
                                    </p:set>
                                    <p:animEffect transition="in" filter="fade">
                                      <p:cBhvr>
                                        <p:cTn id="10" dur="500"/>
                                        <p:tgtEl>
                                          <p:spTgt spid="7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6"/>
                                        </p:tgtEl>
                                        <p:attrNameLst>
                                          <p:attrName>style.visibility</p:attrName>
                                        </p:attrNameLst>
                                      </p:cBhvr>
                                      <p:to>
                                        <p:strVal val="visible"/>
                                      </p:to>
                                    </p:set>
                                    <p:animEffect transition="in" filter="fade">
                                      <p:cBhvr>
                                        <p:cTn id="15" dur="500"/>
                                        <p:tgtEl>
                                          <p:spTgt spid="7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77"/>
                                        </p:tgtEl>
                                        <p:attrNameLst>
                                          <p:attrName>style.visibility</p:attrName>
                                        </p:attrNameLst>
                                      </p:cBhvr>
                                      <p:to>
                                        <p:strVal val="visible"/>
                                      </p:to>
                                    </p:set>
                                    <p:animEffect transition="in" filter="wipe(left)">
                                      <p:cBhvr>
                                        <p:cTn id="20" dur="4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75" grpId="0" animBg="1"/>
      <p:bldP spid="76" grpId="0" animBg="1"/>
      <p:bldP spid="77" grpId="0" animBg="1"/>
    </p:bld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80D"/>
        </a:solidFill>
      </p:bgPr>
    </p:bg>
    <p:spTree>
      <p:nvGrpSpPr>
        <p:cNvPr id="84" name="Shape 84"/>
        <p:cNvGrpSpPr/>
        <p:nvPr/>
      </p:nvGrpSpPr>
      <p:grpSpPr>
        <a:xfrm>
          <a:off x="0" y="0"/>
          <a:ext cx="0" cy="0"/>
          <a:chOff x="0" y="0"/>
          <a:chExt cx="0" cy="0"/>
        </a:xfrm>
      </p:grpSpPr>
      <p:sp>
        <p:nvSpPr>
          <p:cNvPr id="85" name="Google Shape;85;p18"/>
          <p:cNvSpPr/>
          <p:nvPr/>
        </p:nvSpPr>
        <p:spPr>
          <a:xfrm>
            <a:off x="571500" y="357188"/>
            <a:ext cx="8001000" cy="2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100">
                <a:solidFill>
                  <a:srgbClr val="80D6FF"/>
                </a:solidFill>
                <a:latin typeface="Quattrocento Sans"/>
                <a:ea typeface="Quattrocento Sans"/>
                <a:cs typeface="Quattrocento Sans"/>
                <a:sym typeface="Quattrocento Sans"/>
              </a:rPr>
              <a:t>WHY WATER MAY RUN BEFORE USE</a:t>
            </a:r>
            <a:endParaRPr sz="1100"/>
          </a:p>
        </p:txBody>
      </p:sp>
      <p:sp>
        <p:nvSpPr>
          <p:cNvPr id="86" name="Google Shape;86;p18"/>
          <p:cNvSpPr/>
          <p:nvPr/>
        </p:nvSpPr>
        <p:spPr>
          <a:xfrm>
            <a:off x="557213" y="1021556"/>
            <a:ext cx="1000200" cy="671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3800">
                <a:solidFill>
                  <a:srgbClr val="80D6FF"/>
                </a:solidFill>
                <a:latin typeface="Quattrocento Sans"/>
                <a:ea typeface="Quattrocento Sans"/>
                <a:cs typeface="Quattrocento Sans"/>
                <a:sym typeface="Quattrocento Sans"/>
              </a:rPr>
              <a:t>01</a:t>
            </a:r>
            <a:endParaRPr sz="1100"/>
          </a:p>
        </p:txBody>
      </p:sp>
      <p:sp>
        <p:nvSpPr>
          <p:cNvPr id="87" name="Google Shape;87;p18"/>
          <p:cNvSpPr/>
          <p:nvPr/>
        </p:nvSpPr>
        <p:spPr>
          <a:xfrm>
            <a:off x="1764506" y="1057275"/>
            <a:ext cx="6786600" cy="48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400"/>
              <a:buFont typeface="Quattrocento Sans"/>
              <a:buNone/>
            </a:pPr>
            <a:r>
              <a:rPr b="1" lang="en" sz="2400">
                <a:solidFill>
                  <a:srgbClr val="FFFFFF"/>
                </a:solidFill>
                <a:latin typeface="Quattrocento Sans"/>
                <a:ea typeface="Quattrocento Sans"/>
                <a:cs typeface="Quattrocento Sans"/>
                <a:sym typeface="Quattrocento Sans"/>
              </a:rPr>
              <a:t>Waiting for hot water to arrive</a:t>
            </a:r>
            <a:endParaRPr sz="1100"/>
          </a:p>
        </p:txBody>
      </p:sp>
      <p:sp>
        <p:nvSpPr>
          <p:cNvPr id="88" name="Google Shape;88;p18"/>
          <p:cNvSpPr/>
          <p:nvPr/>
        </p:nvSpPr>
        <p:spPr>
          <a:xfrm>
            <a:off x="1785938" y="1621631"/>
            <a:ext cx="6672300" cy="7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5C1CC"/>
              </a:buClr>
              <a:buSzPts val="1700"/>
              <a:buFont typeface="Quattrocento Sans"/>
              <a:buNone/>
            </a:pPr>
            <a:r>
              <a:rPr b="0" lang="en" sz="1700">
                <a:solidFill>
                  <a:srgbClr val="B5C1CC"/>
                </a:solidFill>
                <a:latin typeface="Quattrocento Sans"/>
                <a:ea typeface="Quattrocento Sans"/>
                <a:cs typeface="Quattrocento Sans"/>
                <a:sym typeface="Quattrocento Sans"/>
              </a:rPr>
              <a:t>Water in the hot</a:t>
            </a:r>
            <a:r>
              <a:rPr lang="en" sz="1700">
                <a:solidFill>
                  <a:srgbClr val="B5C1CC"/>
                </a:solidFill>
                <a:latin typeface="Quattrocento Sans"/>
                <a:ea typeface="Quattrocento Sans"/>
                <a:cs typeface="Quattrocento Sans"/>
                <a:sym typeface="Quattrocento Sans"/>
              </a:rPr>
              <a:t> </a:t>
            </a:r>
            <a:r>
              <a:rPr b="0" lang="en" sz="1700">
                <a:solidFill>
                  <a:srgbClr val="B5C1CC"/>
                </a:solidFill>
                <a:latin typeface="Quattrocento Sans"/>
                <a:ea typeface="Quattrocento Sans"/>
                <a:cs typeface="Quattrocento Sans"/>
                <a:sym typeface="Quattrocento Sans"/>
              </a:rPr>
              <a:t>water pipes cools between uses.</a:t>
            </a:r>
            <a:endParaRPr sz="1100"/>
          </a:p>
          <a:p>
            <a:pPr indent="0" lvl="0" marL="0" marR="0" rtl="0" algn="l">
              <a:spcBef>
                <a:spcPts val="0"/>
              </a:spcBef>
              <a:spcAft>
                <a:spcPts val="0"/>
              </a:spcAft>
              <a:buClr>
                <a:srgbClr val="B5C1CC"/>
              </a:buClr>
              <a:buSzPts val="1700"/>
              <a:buFont typeface="Quattrocento Sans"/>
              <a:buNone/>
            </a:pPr>
            <a:r>
              <a:rPr b="0" lang="en" sz="1700">
                <a:solidFill>
                  <a:srgbClr val="B5C1CC"/>
                </a:solidFill>
                <a:latin typeface="Quattrocento Sans"/>
                <a:ea typeface="Quattrocento Sans"/>
                <a:cs typeface="Quattrocento Sans"/>
                <a:sym typeface="Quattrocento Sans"/>
              </a:rPr>
              <a:t>Hot water must travel from where it is heated to the shower.</a:t>
            </a:r>
            <a:endParaRPr sz="1100"/>
          </a:p>
        </p:txBody>
      </p:sp>
      <p:sp>
        <p:nvSpPr>
          <p:cNvPr id="89" name="Google Shape;89;p18"/>
          <p:cNvSpPr/>
          <p:nvPr/>
        </p:nvSpPr>
        <p:spPr>
          <a:xfrm>
            <a:off x="557213" y="2764631"/>
            <a:ext cx="1000200" cy="671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3800">
                <a:solidFill>
                  <a:srgbClr val="80D6FF"/>
                </a:solidFill>
                <a:latin typeface="Quattrocento Sans"/>
                <a:ea typeface="Quattrocento Sans"/>
                <a:cs typeface="Quattrocento Sans"/>
                <a:sym typeface="Quattrocento Sans"/>
              </a:rPr>
              <a:t>02</a:t>
            </a:r>
            <a:endParaRPr sz="1100"/>
          </a:p>
        </p:txBody>
      </p:sp>
      <p:sp>
        <p:nvSpPr>
          <p:cNvPr id="90" name="Google Shape;90;p18"/>
          <p:cNvSpPr/>
          <p:nvPr/>
        </p:nvSpPr>
        <p:spPr>
          <a:xfrm>
            <a:off x="1764506" y="2800350"/>
            <a:ext cx="6786600" cy="48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2400">
                <a:solidFill>
                  <a:srgbClr val="FFFFFF"/>
                </a:solidFill>
                <a:latin typeface="Quattrocento Sans"/>
                <a:ea typeface="Quattrocento Sans"/>
                <a:cs typeface="Quattrocento Sans"/>
                <a:sym typeface="Quattrocento Sans"/>
              </a:rPr>
              <a:t>The user is getting ready</a:t>
            </a:r>
            <a:endParaRPr sz="1100"/>
          </a:p>
        </p:txBody>
      </p:sp>
      <p:sp>
        <p:nvSpPr>
          <p:cNvPr id="91" name="Google Shape;91;p18"/>
          <p:cNvSpPr/>
          <p:nvPr/>
        </p:nvSpPr>
        <p:spPr>
          <a:xfrm>
            <a:off x="1785938" y="3364706"/>
            <a:ext cx="6672300" cy="7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700">
                <a:solidFill>
                  <a:srgbClr val="B5C1CC"/>
                </a:solidFill>
                <a:latin typeface="Quattrocento Sans"/>
                <a:ea typeface="Quattrocento Sans"/>
                <a:cs typeface="Quattrocento Sans"/>
                <a:sym typeface="Quattrocento Sans"/>
              </a:rPr>
              <a:t>Water may keep running after</a:t>
            </a:r>
            <a:endParaRPr sz="1100"/>
          </a:p>
          <a:p>
            <a:pPr indent="0" lvl="0" marL="0" marR="0" rtl="0" algn="l">
              <a:spcBef>
                <a:spcPts val="0"/>
              </a:spcBef>
              <a:spcAft>
                <a:spcPts val="0"/>
              </a:spcAft>
              <a:buNone/>
            </a:pPr>
            <a:r>
              <a:rPr b="0" lang="en" sz="1700">
                <a:solidFill>
                  <a:srgbClr val="B5C1CC"/>
                </a:solidFill>
                <a:latin typeface="Quattrocento Sans"/>
                <a:ea typeface="Quattrocento Sans"/>
                <a:cs typeface="Quattrocento Sans"/>
                <a:sym typeface="Quattrocento Sans"/>
              </a:rPr>
              <a:t>a usable temperature arrives.</a:t>
            </a:r>
            <a:endParaRPr sz="1100"/>
          </a:p>
        </p:txBody>
      </p:sp>
      <p:sp>
        <p:nvSpPr>
          <p:cNvPr id="92" name="Google Shape;92;p18"/>
          <p:cNvSpPr/>
          <p:nvPr/>
        </p:nvSpPr>
        <p:spPr>
          <a:xfrm>
            <a:off x="571500" y="4793456"/>
            <a:ext cx="7644000" cy="18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00">
                <a:solidFill>
                  <a:srgbClr val="B5C1CC"/>
                </a:solidFill>
                <a:latin typeface="Quattrocento Sans"/>
                <a:ea typeface="Quattrocento Sans"/>
                <a:cs typeface="Quattrocento Sans"/>
                <a:sym typeface="Quattrocento Sans"/>
              </a:rPr>
              <a:t>Background: EPA 2026. Duration and behaviour vary by system and user.</a:t>
            </a:r>
            <a:endParaRPr sz="1100"/>
          </a:p>
        </p:txBody>
      </p:sp>
      <p:sp>
        <p:nvSpPr>
          <p:cNvPr id="93" name="Google Shape;93;p18"/>
          <p:cNvSpPr/>
          <p:nvPr/>
        </p:nvSpPr>
        <p:spPr>
          <a:xfrm>
            <a:off x="8358188" y="4793456"/>
            <a:ext cx="357300" cy="19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00">
                <a:solidFill>
                  <a:srgbClr val="B5C1CC"/>
                </a:solidFill>
                <a:latin typeface="Quattrocento Sans"/>
                <a:ea typeface="Quattrocento Sans"/>
                <a:cs typeface="Quattrocento Sans"/>
                <a:sym typeface="Quattrocento Sans"/>
              </a:rPr>
              <a:t>04</a:t>
            </a:r>
            <a:endParaRPr sz="1100"/>
          </a:p>
        </p:txBody>
      </p:sp>
    </p:spTree>
  </p:cSld>
  <p:clrMapOvr>
    <a:masterClrMapping/>
  </p:clrMapOvr>
  <mc:AlternateContent>
    <mc:Choice Requires="p14">
      <p:transition spd="fast" p14:dur="500">
        <p:fade/>
      </p:transition>
    </mc:Choice>
    <mc:Fallback>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5"/>
                                        </p:tgtEl>
                                        <p:attrNameLst>
                                          <p:attrName>style.visibility</p:attrName>
                                        </p:attrNameLst>
                                      </p:cBhvr>
                                      <p:to>
                                        <p:strVal val="visible"/>
                                      </p:to>
                                    </p:set>
                                    <p:animEffect transition="in" filter="fade">
                                      <p:cBhvr>
                                        <p:cTn id="7" dur="500"/>
                                        <p:tgtEl>
                                          <p:spTgt spid="8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6"/>
                                        </p:tgtEl>
                                        <p:attrNameLst>
                                          <p:attrName>style.visibility</p:attrName>
                                        </p:attrNameLst>
                                      </p:cBhvr>
                                      <p:to>
                                        <p:strVal val="visible"/>
                                      </p:to>
                                    </p:set>
                                    <p:animEffect transition="in" filter="fade">
                                      <p:cBhvr>
                                        <p:cTn id="10" dur="500"/>
                                        <p:tgtEl>
                                          <p:spTgt spid="8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7"/>
                                        </p:tgtEl>
                                        <p:attrNameLst>
                                          <p:attrName>style.visibility</p:attrName>
                                        </p:attrNameLst>
                                      </p:cBhvr>
                                      <p:to>
                                        <p:strVal val="visible"/>
                                      </p:to>
                                    </p:set>
                                    <p:animEffect transition="in" filter="fade">
                                      <p:cBhvr>
                                        <p:cTn id="13" dur="500"/>
                                        <p:tgtEl>
                                          <p:spTgt spid="8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8"/>
                                        </p:tgtEl>
                                        <p:attrNameLst>
                                          <p:attrName>style.visibility</p:attrName>
                                        </p:attrNameLst>
                                      </p:cBhvr>
                                      <p:to>
                                        <p:strVal val="visible"/>
                                      </p:to>
                                    </p:set>
                                    <p:animEffect transition="in" filter="fade">
                                      <p:cBhvr>
                                        <p:cTn id="16" dur="500"/>
                                        <p:tgtEl>
                                          <p:spTgt spid="8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9"/>
                                        </p:tgtEl>
                                        <p:attrNameLst>
                                          <p:attrName>style.visibility</p:attrName>
                                        </p:attrNameLst>
                                      </p:cBhvr>
                                      <p:to>
                                        <p:strVal val="visible"/>
                                      </p:to>
                                    </p:set>
                                    <p:animEffect transition="in" filter="fade">
                                      <p:cBhvr>
                                        <p:cTn id="21" dur="500"/>
                                        <p:tgtEl>
                                          <p:spTgt spid="8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0"/>
                                        </p:tgtEl>
                                        <p:attrNameLst>
                                          <p:attrName>style.visibility</p:attrName>
                                        </p:attrNameLst>
                                      </p:cBhvr>
                                      <p:to>
                                        <p:strVal val="visible"/>
                                      </p:to>
                                    </p:set>
                                    <p:animEffect transition="in" filter="fade">
                                      <p:cBhvr>
                                        <p:cTn id="24" dur="500"/>
                                        <p:tgtEl>
                                          <p:spTgt spid="9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1"/>
                                        </p:tgtEl>
                                        <p:attrNameLst>
                                          <p:attrName>style.visibility</p:attrName>
                                        </p:attrNameLst>
                                      </p:cBhvr>
                                      <p:to>
                                        <p:strVal val="visible"/>
                                      </p:to>
                                    </p:set>
                                    <p:animEffect transition="in" filter="fade">
                                      <p:cBhvr>
                                        <p:cTn id="27"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P spid="86" grpId="0" animBg="1"/>
      <p:bldP spid="87" grpId="0" animBg="1"/>
      <p:bldP spid="88" grpId="0" animBg="1"/>
      <p:bldP spid="89" grpId="0" animBg="1"/>
      <p:bldP spid="90" grpId="0" animBg="1"/>
      <p:bldP spid="91" grpId="0" animBg="1"/>
    </p:bld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9"/>
        </a:solidFill>
      </p:bgPr>
    </p:bg>
    <p:spTree>
      <p:nvGrpSpPr>
        <p:cNvPr id="98" name="Shape 98"/>
        <p:cNvGrpSpPr/>
        <p:nvPr/>
      </p:nvGrpSpPr>
      <p:grpSpPr>
        <a:xfrm>
          <a:off x="0" y="0"/>
          <a:ext cx="0" cy="0"/>
          <a:chOff x="0" y="0"/>
          <a:chExt cx="0" cy="0"/>
        </a:xfrm>
      </p:grpSpPr>
      <p:sp>
        <p:nvSpPr>
          <p:cNvPr id="99" name="Google Shape;99;p19"/>
          <p:cNvSpPr/>
          <p:nvPr/>
        </p:nvSpPr>
        <p:spPr>
          <a:xfrm>
            <a:off x="571500" y="357188"/>
            <a:ext cx="8001000" cy="2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100">
                <a:solidFill>
                  <a:srgbClr val="006FE8"/>
                </a:solidFill>
                <a:latin typeface="Quattrocento Sans"/>
                <a:ea typeface="Quattrocento Sans"/>
                <a:cs typeface="Quattrocento Sans"/>
                <a:sym typeface="Quattrocento Sans"/>
              </a:rPr>
              <a:t>ILLUSTRATIVE CALCULATION</a:t>
            </a:r>
            <a:endParaRPr sz="1100"/>
          </a:p>
        </p:txBody>
      </p:sp>
      <p:sp>
        <p:nvSpPr>
          <p:cNvPr id="100" name="Google Shape;100;p19"/>
          <p:cNvSpPr/>
          <p:nvPr/>
        </p:nvSpPr>
        <p:spPr>
          <a:xfrm>
            <a:off x="500063" y="1005840"/>
            <a:ext cx="3929100" cy="148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9600">
                <a:solidFill>
                  <a:srgbClr val="111820"/>
                </a:solidFill>
                <a:latin typeface="Quattrocento Sans"/>
                <a:ea typeface="Quattrocento Sans"/>
                <a:cs typeface="Quattrocento Sans"/>
                <a:sym typeface="Quattrocento Sans"/>
              </a:rPr>
              <a:t>30</a:t>
            </a:r>
            <a:endParaRPr sz="1100"/>
          </a:p>
        </p:txBody>
      </p:sp>
      <p:sp>
        <p:nvSpPr>
          <p:cNvPr id="101" name="Google Shape;101;p19"/>
          <p:cNvSpPr/>
          <p:nvPr/>
        </p:nvSpPr>
        <p:spPr>
          <a:xfrm>
            <a:off x="571500" y="2606040"/>
            <a:ext cx="4000500" cy="3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700">
                <a:solidFill>
                  <a:srgbClr val="52606D"/>
                </a:solidFill>
                <a:latin typeface="Quattrocento Sans"/>
                <a:ea typeface="Quattrocento Sans"/>
                <a:cs typeface="Quattrocento Sans"/>
                <a:sym typeface="Quattrocento Sans"/>
              </a:rPr>
              <a:t>seconds of flowing water</a:t>
            </a:r>
            <a:endParaRPr sz="1100"/>
          </a:p>
        </p:txBody>
      </p:sp>
      <p:sp>
        <p:nvSpPr>
          <p:cNvPr id="102" name="Google Shape;102;p19"/>
          <p:cNvSpPr/>
          <p:nvPr/>
        </p:nvSpPr>
        <p:spPr>
          <a:xfrm>
            <a:off x="4956048" y="1005840"/>
            <a:ext cx="3714900" cy="148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6FE8"/>
              </a:buClr>
              <a:buSzPts val="9600"/>
              <a:buFont typeface="Quattrocento Sans"/>
              <a:buNone/>
            </a:pPr>
            <a:r>
              <a:rPr b="1" lang="en" sz="9600">
                <a:solidFill>
                  <a:srgbClr val="006FE8"/>
                </a:solidFill>
                <a:latin typeface="Quattrocento Sans"/>
                <a:ea typeface="Quattrocento Sans"/>
                <a:cs typeface="Quattrocento Sans"/>
                <a:sym typeface="Quattrocento Sans"/>
              </a:rPr>
              <a:t>4.35</a:t>
            </a:r>
            <a:endParaRPr sz="1100"/>
          </a:p>
        </p:txBody>
      </p:sp>
      <p:sp>
        <p:nvSpPr>
          <p:cNvPr id="103" name="Google Shape;103;p19"/>
          <p:cNvSpPr/>
          <p:nvPr/>
        </p:nvSpPr>
        <p:spPr>
          <a:xfrm>
            <a:off x="5029200" y="2606040"/>
            <a:ext cx="3500700" cy="3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700">
                <a:solidFill>
                  <a:srgbClr val="006FE8"/>
                </a:solidFill>
                <a:latin typeface="Quattrocento Sans"/>
                <a:ea typeface="Quattrocento Sans"/>
                <a:cs typeface="Quattrocento Sans"/>
                <a:sym typeface="Quattrocento Sans"/>
              </a:rPr>
              <a:t>litres released</a:t>
            </a:r>
            <a:endParaRPr sz="1100"/>
          </a:p>
        </p:txBody>
      </p:sp>
      <p:sp>
        <p:nvSpPr>
          <p:cNvPr id="104" name="Google Shape;104;p19"/>
          <p:cNvSpPr/>
          <p:nvPr/>
        </p:nvSpPr>
        <p:spPr>
          <a:xfrm>
            <a:off x="571500" y="3200400"/>
            <a:ext cx="792960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0"/>
              </a:buClr>
              <a:buSzPts val="1900"/>
              <a:buFont typeface="Quattrocento Sans"/>
              <a:buNone/>
            </a:pPr>
            <a:r>
              <a:rPr b="0" lang="en" sz="1900">
                <a:solidFill>
                  <a:srgbClr val="111820"/>
                </a:solidFill>
                <a:latin typeface="Quattrocento Sans"/>
                <a:ea typeface="Quattrocento Sans"/>
                <a:cs typeface="Quattrocento Sans"/>
                <a:sym typeface="Quattrocento Sans"/>
              </a:rPr>
              <a:t>8.7 L/min × 0.5 min = 4.35 L</a:t>
            </a:r>
            <a:endParaRPr sz="1100"/>
          </a:p>
        </p:txBody>
      </p:sp>
      <p:sp>
        <p:nvSpPr>
          <p:cNvPr id="105" name="Google Shape;105;p19"/>
          <p:cNvSpPr/>
          <p:nvPr/>
        </p:nvSpPr>
        <p:spPr>
          <a:xfrm>
            <a:off x="571500" y="4507706"/>
            <a:ext cx="7644000" cy="478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2606D"/>
              </a:buClr>
              <a:buSzPts val="1000"/>
              <a:buFont typeface="Quattrocento Sans"/>
              <a:buNone/>
            </a:pPr>
            <a:r>
              <a:rPr b="0" lang="en" sz="1000">
                <a:solidFill>
                  <a:srgbClr val="52606D"/>
                </a:solidFill>
                <a:latin typeface="Quattrocento Sans"/>
                <a:ea typeface="Quattrocento Sans"/>
                <a:cs typeface="Quattrocento Sans"/>
                <a:sym typeface="Quattrocento Sans"/>
              </a:rPr>
              <a:t>Flow: RSB audit of 45 high-use villas, Abu Dhabi / Al Ain (2015), via ADDC/Tarsheed 2017.</a:t>
            </a:r>
            <a:br>
              <a:rPr b="0" lang="en" sz="1000">
                <a:solidFill>
                  <a:srgbClr val="52606D"/>
                </a:solidFill>
                <a:latin typeface="Quattrocento Sans"/>
                <a:ea typeface="Quattrocento Sans"/>
                <a:cs typeface="Quattrocento Sans"/>
                <a:sym typeface="Quattrocento Sans"/>
              </a:rPr>
            </a:br>
            <a:r>
              <a:rPr b="0" lang="en" sz="1000">
                <a:solidFill>
                  <a:srgbClr val="52606D"/>
                </a:solidFill>
                <a:latin typeface="Quattrocento Sans"/>
                <a:ea typeface="Quattrocento Sans"/>
                <a:cs typeface="Quattrocento Sans"/>
                <a:sym typeface="Quattrocento Sans"/>
              </a:rPr>
              <a:t>30-second wait assumed. Local study rate, not a UAE average or measured shower loss.</a:t>
            </a:r>
            <a:endParaRPr sz="1100"/>
          </a:p>
        </p:txBody>
      </p:sp>
      <p:sp>
        <p:nvSpPr>
          <p:cNvPr id="106" name="Google Shape;106;p19"/>
          <p:cNvSpPr/>
          <p:nvPr/>
        </p:nvSpPr>
        <p:spPr>
          <a:xfrm>
            <a:off x="8358188" y="4793456"/>
            <a:ext cx="357300" cy="19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00">
                <a:solidFill>
                  <a:srgbClr val="52606D"/>
                </a:solidFill>
                <a:latin typeface="Quattrocento Sans"/>
                <a:ea typeface="Quattrocento Sans"/>
                <a:cs typeface="Quattrocento Sans"/>
                <a:sym typeface="Quattrocento Sans"/>
              </a:rPr>
              <a:t>05</a:t>
            </a:r>
            <a:endParaRPr sz="1100"/>
          </a:p>
        </p:txBody>
      </p:sp>
      <p:sp>
        <p:nvSpPr>
          <p:cNvPr id="107" name="Interview link"/>
          <p:cNvSpPr txBox="1"/>
          <p:nvPr/>
        </p:nvSpPr>
        <p:spPr>
          <a:xfrm>
            <a:off x="566928" y="3730752"/>
            <a:ext cx="7927848" cy="60350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200"/>
              </a:spcAft>
              <a:buNone/>
            </a:pPr>
            <a:r>
              <a:rPr lang="en" sz="1500" b="1">
                <a:solidFill>
                  <a:srgbClr val="006FE8"/>
                </a:solidFill>
                <a:latin typeface="Quattrocento Sans"/>
                <a:ea typeface="Quattrocento Sans"/>
                <a:cs typeface="Quattrocento Sans"/>
                <a:sym typeface="Quattrocento Sans"/>
              </a:rPr>
              <a:t>Interviews reported 3–5 minute waits, not 30 seconds.</a:t>
            </a:r>
          </a:p>
          <a:p>
            <a:pPr indent="0" lvl="0" marL="0" marR="0" rtl="0" algn="l">
              <a:spcBef>
                <a:spcPts val="0"/>
              </a:spcBef>
              <a:spcAft>
                <a:spcPts val="0"/>
              </a:spcAft>
              <a:buNone/>
            </a:pPr>
            <a:r>
              <a:rPr lang="en" sz="1500" b="1">
                <a:solidFill>
                  <a:srgbClr val="006FE8"/>
                </a:solidFill>
                <a:latin typeface="Quattrocento Sans"/>
                <a:ea typeface="Quattrocento Sans"/>
                <a:cs typeface="Quattrocento Sans"/>
                <a:sym typeface="Quattrocento Sans"/>
              </a:rPr>
              <a:t>8.7 L/min × 4 min = about 35 L per shower</a:t>
            </a:r>
          </a:p>
        </p:txBody>
      </p:sp>
    </p:spTree>
  </p:cSld>
  <p:clrMapOvr>
    <a:masterClrMapping/>
  </p:clrMapOvr>
  <mc:AlternateContent>
    <mc:Choice Requires="p14">
      <p:transition spd="fast" p14:dur="500">
        <p:fade/>
      </p:transition>
    </mc:Choice>
    <mc:Fallback>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fade">
                                      <p:cBhvr>
                                        <p:cTn id="7" dur="500"/>
                                        <p:tgtEl>
                                          <p:spTgt spid="9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0"/>
                                        </p:tgtEl>
                                        <p:attrNameLst>
                                          <p:attrName>style.visibility</p:attrName>
                                        </p:attrNameLst>
                                      </p:cBhvr>
                                      <p:to>
                                        <p:strVal val="visible"/>
                                      </p:to>
                                    </p:set>
                                    <p:animEffect transition="in" filter="fade">
                                      <p:cBhvr>
                                        <p:cTn id="10" dur="500"/>
                                        <p:tgtEl>
                                          <p:spTgt spid="10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1"/>
                                        </p:tgtEl>
                                        <p:attrNameLst>
                                          <p:attrName>style.visibility</p:attrName>
                                        </p:attrNameLst>
                                      </p:cBhvr>
                                      <p:to>
                                        <p:strVal val="visible"/>
                                      </p:to>
                                    </p:set>
                                    <p:animEffect transition="in" filter="fade">
                                      <p:cBhvr>
                                        <p:cTn id="13" dur="500"/>
                                        <p:tgtEl>
                                          <p:spTgt spid="10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02"/>
                                        </p:tgtEl>
                                        <p:attrNameLst>
                                          <p:attrName>style.visibility</p:attrName>
                                        </p:attrNameLst>
                                      </p:cBhvr>
                                      <p:to>
                                        <p:strVal val="visible"/>
                                      </p:to>
                                    </p:set>
                                    <p:animEffect transition="in" filter="fade">
                                      <p:cBhvr>
                                        <p:cTn id="18" dur="500"/>
                                        <p:tgtEl>
                                          <p:spTgt spid="102"/>
                                        </p:tgtEl>
                                      </p:cBhvr>
                                    </p:animEffect>
                                    <p:anim calcmode="lin" valueType="num">
                                      <p:cBhvr additive="base">
                                        <p:cTn id="19" dur="500" fill="hold"/>
                                        <p:tgtEl>
                                          <p:spTgt spid="102"/>
                                        </p:tgtEl>
                                        <p:attrNameLst>
                                          <p:attrName>ppt_x</p:attrName>
                                        </p:attrNameLst>
                                      </p:cBhvr>
                                      <p:tavLst>
                                        <p:tav tm="0">
                                          <p:val>
                                            <p:strVal val="#ppt_x"/>
                                          </p:val>
                                        </p:tav>
                                        <p:tav tm="100000">
                                          <p:val>
                                            <p:strVal val="#ppt_x"/>
                                          </p:val>
                                        </p:tav>
                                      </p:tavLst>
                                    </p:anim>
                                    <p:anim calcmode="lin" valueType="num">
                                      <p:cBhvr additive="base">
                                        <p:cTn id="20" dur="500" fill="hold"/>
                                        <p:tgtEl>
                                          <p:spTgt spid="102"/>
                                        </p:tgtEl>
                                        <p:attrNameLst>
                                          <p:attrName>ppt_y</p:attrName>
                                        </p:attrNameLst>
                                      </p:cBhvr>
                                      <p:tavLst>
                                        <p:tav tm="0">
                                          <p:val>
                                            <p:strVal val="1+#ppt_h/2"/>
                                          </p:val>
                                        </p:tav>
                                        <p:tav tm="100000">
                                          <p:val>
                                            <p:strVal val="#ppt_y"/>
                                          </p:val>
                                        </p:tav>
                                      </p:tavLst>
                                    </p:anim>
                                  </p:childTnLst>
                                </p:cTn>
                              </p:par>
                              <p:par>
                                <p:cTn id="21" presetID="10" presetClass="entr" presetSubtype="0" fill="hold" grpId="0" nodeType="withEffect">
                                  <p:stCondLst>
                                    <p:cond delay="0"/>
                                  </p:stCondLst>
                                  <p:childTnLst>
                                    <p:set>
                                      <p:cBhvr>
                                        <p:cTn id="22" dur="1" fill="hold">
                                          <p:stCondLst>
                                            <p:cond delay="0"/>
                                          </p:stCondLst>
                                        </p:cTn>
                                        <p:tgtEl>
                                          <p:spTgt spid="103"/>
                                        </p:tgtEl>
                                        <p:attrNameLst>
                                          <p:attrName>style.visibility</p:attrName>
                                        </p:attrNameLst>
                                      </p:cBhvr>
                                      <p:to>
                                        <p:strVal val="visible"/>
                                      </p:to>
                                    </p:set>
                                    <p:animEffect transition="in" filter="fade">
                                      <p:cBhvr>
                                        <p:cTn id="23" dur="500"/>
                                        <p:tgtEl>
                                          <p:spTgt spid="10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4"/>
                                        </p:tgtEl>
                                        <p:attrNameLst>
                                          <p:attrName>style.visibility</p:attrName>
                                        </p:attrNameLst>
                                      </p:cBhvr>
                                      <p:to>
                                        <p:strVal val="visible"/>
                                      </p:to>
                                    </p:set>
                                    <p:animEffect transition="in" filter="fade">
                                      <p:cBhvr>
                                        <p:cTn id="26" dur="500"/>
                                        <p:tgtEl>
                                          <p:spTgt spid="10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7"/>
                                        </p:tgtEl>
                                        <p:attrNameLst>
                                          <p:attrName>style.visibility</p:attrName>
                                        </p:attrNameLst>
                                      </p:cBhvr>
                                      <p:to>
                                        <p:strVal val="visible"/>
                                      </p:to>
                                    </p:set>
                                    <p:animEffect transition="in" filter="fade">
                                      <p:cBhvr>
                                        <p:cTn id="31" dur="5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100" grpId="0" animBg="1"/>
      <p:bldP spid="101" grpId="0" animBg="1"/>
      <p:bldP spid="102" grpId="0" animBg="1"/>
      <p:bldP spid="103" grpId="0" animBg="1"/>
      <p:bldP spid="104" grpId="0" animBg="1"/>
      <p:bldP spid="107"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5080D"/>
        </a:solidFill>
        <a:effectLst/>
      </p:bgPr>
    </p:bg>
    <p:spTree>
      <p:nvGrpSpPr>
        <p:cNvPr id="1" name=""/>
        <p:cNvGrpSpPr/>
        <p:nvPr/>
      </p:nvGrpSpPr>
      <p:grpSpPr/>
      <p:pic>
        <p:nvPicPr>
          <p:cNvPr id="2" name="Photo: shower head" descr="image.png"/>
          <p:cNvPicPr>
            <a:picLocks noChangeAspect="1"/>
          </p:cNvPicPr>
          <p:nvPr/>
        </p:nvPicPr>
        <p:blipFill>
          <a:blip r:embed="rId2"/>
          <a:srcRect l="25000" t="5000" r="20000" b="36000"/>
          <a:stretch>
            <a:fillRect/>
          </a:stretch>
        </p:blipFill>
        <p:spPr>
          <a:xfrm>
            <a:off x="5312664" y="0"/>
            <a:ext cx="3831336" cy="5143500"/>
          </a:xfrm>
          <a:prstGeom prst="rect">
            <a:avLst/>
          </a:prstGeom>
        </p:spPr>
      </p:pic>
      <p:sp>
        <p:nvSpPr>
          <p:cNvPr id="3" name="Photo overlay"/>
          <p:cNvSpPr/>
          <p:nvPr/>
        </p:nvSpPr>
        <p:spPr>
          <a:xfrm>
            <a:off x="5312664" y="0"/>
            <a:ext cx="3831336" cy="5143500"/>
          </a:xfrm>
          <a:prstGeom prst="rect">
            <a:avLst/>
          </a:prstGeom>
          <a:solidFill>
            <a:srgbClr val="05080D">
              <a:alpha val="38000"/>
            </a:srgbClr>
          </a:solidFill>
          <a:ln>
            <a:noFill/>
          </a:ln>
        </p:spPr>
        <p:txBody>
          <a:bodyPr anchor="ctr" lIns="0" rIns="0" tIns="0" bIns="0">
            <a:noAutofit/>
          </a:bodyPr>
          <a:lstStyle/>
          <a:p>
            <a:pPr indent="0" lvl="0" marL="0" marR="0" rtl="0" algn="l">
              <a:spcBef>
                <a:spcPts val="0"/>
              </a:spcBef>
              <a:spcAft>
                <a:spcPts val="0"/>
              </a:spcAft>
              <a:buNone/>
            </a:pPr>
          </a:p>
        </p:txBody>
      </p:sp>
      <p:sp>
        <p:nvSpPr>
          <p:cNvPr id="4" name="Section label"/>
          <p:cNvSpPr txBox="1"/>
          <p:nvPr/>
        </p:nvSpPr>
        <p:spPr>
          <a:xfrm>
            <a:off x="566928" y="356616"/>
            <a:ext cx="8001000" cy="2103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100" b="1">
                <a:solidFill>
                  <a:srgbClr val="80D6FF"/>
                </a:solidFill>
                <a:latin typeface="Quattrocento Sans"/>
                <a:ea typeface="Quattrocento Sans"/>
                <a:cs typeface="Quattrocento Sans"/>
                <a:sym typeface="Quattrocento Sans"/>
              </a:rPr>
              <a:t>IEN301  ·  PROJECT 1: PROBLEM FRAMING</a:t>
            </a:r>
          </a:p>
        </p:txBody>
      </p:sp>
      <p:sp>
        <p:nvSpPr>
          <p:cNvPr id="5" name="Title"/>
          <p:cNvSpPr txBox="1"/>
          <p:nvPr/>
        </p:nvSpPr>
        <p:spPr>
          <a:xfrm>
            <a:off x="557784" y="1188720"/>
            <a:ext cx="46634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5400" b="1">
                <a:solidFill>
                  <a:srgbClr val="FFFFFF"/>
                </a:solidFill>
                <a:latin typeface="Quattrocento Sans"/>
                <a:ea typeface="Quattrocento Sans"/>
                <a:cs typeface="Quattrocento Sans"/>
                <a:sym typeface="Quattrocento Sans"/>
              </a:rPr>
              <a:t>FIRST DROP</a:t>
            </a:r>
          </a:p>
        </p:txBody>
      </p:sp>
      <p:sp>
        <p:nvSpPr>
          <p:cNvPr id="6" name="Subtitle"/>
          <p:cNvSpPr txBox="1"/>
          <p:nvPr/>
        </p:nvSpPr>
        <p:spPr>
          <a:xfrm>
            <a:off x="557784" y="2103120"/>
            <a:ext cx="466344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3000" b="1">
                <a:solidFill>
                  <a:srgbClr val="80D6FF"/>
                </a:solidFill>
                <a:latin typeface="Quattrocento Sans"/>
                <a:ea typeface="Quattrocento Sans"/>
                <a:cs typeface="Quattrocento Sans"/>
                <a:sym typeface="Quattrocento Sans"/>
              </a:rPr>
              <a:t>The water that runs</a:t>
            </a:r>
          </a:p>
          <a:p>
            <a:pPr indent="0" lvl="0" marL="0" marR="0" rtl="0" algn="l">
              <a:spcBef>
                <a:spcPts val="0"/>
              </a:spcBef>
              <a:spcAft>
                <a:spcPts val="0"/>
              </a:spcAft>
              <a:buNone/>
            </a:pPr>
            <a:r>
              <a:rPr lang="en" sz="3000" b="1">
                <a:solidFill>
                  <a:srgbClr val="80D6FF"/>
                </a:solidFill>
                <a:latin typeface="Quattrocento Sans"/>
                <a:ea typeface="Quattrocento Sans"/>
                <a:cs typeface="Quattrocento Sans"/>
                <a:sym typeface="Quattrocento Sans"/>
              </a:rPr>
              <a:t>before the shower begins</a:t>
            </a:r>
          </a:p>
        </p:txBody>
      </p:sp>
      <p:sp>
        <p:nvSpPr>
          <p:cNvPr id="7" name="Team"/>
          <p:cNvSpPr txBox="1"/>
          <p:nvPr/>
        </p:nvSpPr>
        <p:spPr>
          <a:xfrm>
            <a:off x="566928" y="3611880"/>
            <a:ext cx="46634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400"/>
              </a:spcAft>
              <a:buNone/>
            </a:pPr>
            <a:r>
              <a:rPr lang="en" sz="1100" b="1">
                <a:solidFill>
                  <a:srgbClr val="80D6FF"/>
                </a:solidFill>
                <a:latin typeface="Quattrocento Sans"/>
                <a:ea typeface="Quattrocento Sans"/>
                <a:cs typeface="Quattrocento Sans"/>
                <a:sym typeface="Quattrocento Sans"/>
              </a:rPr>
              <a:t>TEAM</a:t>
            </a:r>
          </a:p>
          <a:p>
            <a:pPr indent="0" lvl="0" marL="0" marR="0" rtl="0" algn="l">
              <a:spcBef>
                <a:spcPts val="0"/>
              </a:spcBef>
              <a:spcAft>
                <a:spcPts val="0"/>
              </a:spcAft>
              <a:buNone/>
            </a:pPr>
            <a:r>
              <a:rPr lang="en" sz="1200" b="0">
                <a:solidFill>
                  <a:srgbClr val="B5C1CC"/>
                </a:solidFill>
                <a:latin typeface="Quattrocento Sans"/>
                <a:ea typeface="Quattrocento Sans"/>
                <a:cs typeface="Quattrocento Sans"/>
                <a:sym typeface="Quattrocento Sans"/>
              </a:rPr>
              <a:t>Omar Hanifa · Mohamed Alkaabi · Khaled Kittaneh</a:t>
            </a:r>
          </a:p>
          <a:p>
            <a:pPr indent="0" lvl="0" marL="0" marR="0" rtl="0" algn="l">
              <a:spcBef>
                <a:spcPts val="0"/>
              </a:spcBef>
              <a:spcAft>
                <a:spcPts val="0"/>
              </a:spcAft>
              <a:buNone/>
            </a:pPr>
            <a:r>
              <a:rPr lang="en" sz="1200" b="0">
                <a:solidFill>
                  <a:srgbClr val="B5C1CC"/>
                </a:solidFill>
                <a:latin typeface="Quattrocento Sans"/>
                <a:ea typeface="Quattrocento Sans"/>
                <a:cs typeface="Quattrocento Sans"/>
                <a:sym typeface="Quattrocento Sans"/>
              </a:rPr>
              <a:t>Nour Helal Yousifi · Mohamed Haque</a:t>
            </a:r>
          </a:p>
        </p:txBody>
      </p:sp>
      <p:sp>
        <p:nvSpPr>
          <p:cNvPr id="8" name="Footer caveat"/>
          <p:cNvSpPr txBox="1"/>
          <p:nvPr/>
        </p:nvSpPr>
        <p:spPr>
          <a:xfrm>
            <a:off x="566928" y="4791456"/>
            <a:ext cx="7644384"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000" b="0">
                <a:solidFill>
                  <a:srgbClr val="B5C1CC"/>
                </a:solidFill>
                <a:latin typeface="Quattrocento Sans"/>
                <a:ea typeface="Quattrocento Sans"/>
                <a:cs typeface="Quattrocento Sans"/>
                <a:sym typeface="Quattrocento Sans"/>
              </a:rPr>
              <a:t>Problem framing only. No intervention is proposed in this deck.</a:t>
            </a:r>
          </a:p>
        </p:txBody>
      </p:sp>
      <p:sp>
        <p:nvSpPr>
          <p:cNvPr id="9" name="Slide number"/>
          <p:cNvSpPr txBox="1"/>
          <p:nvPr/>
        </p:nvSpPr>
        <p:spPr>
          <a:xfrm>
            <a:off x="8357616" y="4791456"/>
            <a:ext cx="356616"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000" b="0">
                <a:solidFill>
                  <a:srgbClr val="B5C1CC"/>
                </a:solidFill>
                <a:latin typeface="Quattrocento Sans"/>
                <a:ea typeface="Quattrocento Sans"/>
                <a:cs typeface="Quattrocento Sans"/>
                <a:sym typeface="Quattrocento Sans"/>
              </a:rPr>
              <a:t>01</a:t>
            </a:r>
          </a:p>
        </p:txBody>
      </p:sp>
    </p:spTree>
  </p:cSld>
  <p:clrMapOvr>
    <a:masterClrMapping/>
  </p:clrMapOvr>
  <mc:AlternateContent xmlns:mc="http://schemas.openxmlformats.org/markup-compatibility/2006" xmlns:p14="http://schemas.microsoft.com/office/powerpoint/2010/main">
    <mc:Choice Requires="p14">
      <p:transition spd="fast" p14:dur="500">
        <p:fade/>
      </p:transition>
    </mc:Choice>
    <mc:Fallback>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9"/>
        </a:solidFill>
        <a:effectLst/>
      </p:bgPr>
    </p:bg>
    <p:spTree>
      <p:nvGrpSpPr>
        <p:cNvPr id="1" name=""/>
        <p:cNvGrpSpPr/>
        <p:nvPr/>
      </p:nvGrpSpPr>
      <p:grpSpPr/>
      <p:sp>
        <p:nvSpPr>
          <p:cNvPr id="2" name="Section label"/>
          <p:cNvSpPr txBox="1"/>
          <p:nvPr/>
        </p:nvSpPr>
        <p:spPr>
          <a:xfrm>
            <a:off x="566928" y="356616"/>
            <a:ext cx="8001000" cy="2103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100" b="1">
                <a:solidFill>
                  <a:srgbClr val="006FE8"/>
                </a:solidFill>
                <a:latin typeface="Quattrocento Sans"/>
                <a:ea typeface="Quattrocento Sans"/>
                <a:cs typeface="Quattrocento Sans"/>
                <a:sym typeface="Quattrocento Sans"/>
              </a:rPr>
              <a:t>EVIDENCE — HOW WE LISTENED</a:t>
            </a:r>
          </a:p>
        </p:txBody>
      </p:sp>
      <p:sp>
        <p:nvSpPr>
          <p:cNvPr id="3" name="Big number interviews"/>
          <p:cNvSpPr txBox="1"/>
          <p:nvPr/>
        </p:nvSpPr>
        <p:spPr>
          <a:xfrm>
            <a:off x="502920" y="960120"/>
            <a:ext cx="274320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8400" b="1">
                <a:solidFill>
                  <a:srgbClr val="111820"/>
                </a:solidFill>
                <a:latin typeface="Quattrocento Sans"/>
                <a:ea typeface="Quattrocento Sans"/>
                <a:cs typeface="Quattrocento Sans"/>
                <a:sym typeface="Quattrocento Sans"/>
              </a:rPr>
              <a:t>2</a:t>
            </a:r>
          </a:p>
        </p:txBody>
      </p:sp>
      <p:sp>
        <p:nvSpPr>
          <p:cNvPr id="4" name="Label interviews"/>
          <p:cNvSpPr txBox="1"/>
          <p:nvPr/>
        </p:nvSpPr>
        <p:spPr>
          <a:xfrm>
            <a:off x="566928" y="2331720"/>
            <a:ext cx="3108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700" b="0">
                <a:solidFill>
                  <a:srgbClr val="52606D"/>
                </a:solidFill>
                <a:latin typeface="Quattrocento Sans"/>
                <a:ea typeface="Quattrocento Sans"/>
                <a:cs typeface="Quattrocento Sans"/>
                <a:sym typeface="Quattrocento Sans"/>
              </a:rPr>
              <a:t>recorded interviews</a:t>
            </a:r>
          </a:p>
          <a:p>
            <a:pPr indent="0" lvl="0" marL="0" marR="0" rtl="0" algn="l">
              <a:spcBef>
                <a:spcPts val="0"/>
              </a:spcBef>
              <a:spcAft>
                <a:spcPts val="0"/>
              </a:spcAft>
              <a:buNone/>
            </a:pPr>
            <a:r>
              <a:rPr lang="en" sz="1400" b="0">
                <a:solidFill>
                  <a:srgbClr val="52606D"/>
                </a:solidFill>
                <a:latin typeface="Quattrocento Sans"/>
                <a:ea typeface="Quattrocento Sans"/>
                <a:cs typeface="Quattrocento Sans"/>
                <a:sym typeface="Quattrocento Sans"/>
              </a:rPr>
              <a:t>27 Sept 2026</a:t>
            </a:r>
          </a:p>
        </p:txBody>
      </p:sp>
      <p:sp>
        <p:nvSpPr>
          <p:cNvPr id="5" name="Big number minutes"/>
          <p:cNvSpPr txBox="1"/>
          <p:nvPr/>
        </p:nvSpPr>
        <p:spPr>
          <a:xfrm>
            <a:off x="3429000" y="960120"/>
            <a:ext cx="274320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8400" b="1">
                <a:solidFill>
                  <a:srgbClr val="006FE8"/>
                </a:solidFill>
                <a:latin typeface="Quattrocento Sans"/>
                <a:ea typeface="Quattrocento Sans"/>
                <a:cs typeface="Quattrocento Sans"/>
                <a:sym typeface="Quattrocento Sans"/>
              </a:rPr>
              <a:t>5:15</a:t>
            </a:r>
          </a:p>
        </p:txBody>
      </p:sp>
      <p:sp>
        <p:nvSpPr>
          <p:cNvPr id="6" name="Label minutes"/>
          <p:cNvSpPr txBox="1"/>
          <p:nvPr/>
        </p:nvSpPr>
        <p:spPr>
          <a:xfrm>
            <a:off x="3493008" y="2331720"/>
            <a:ext cx="3108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700" b="0">
                <a:solidFill>
                  <a:srgbClr val="006FE8"/>
                </a:solidFill>
                <a:latin typeface="Quattrocento Sans"/>
                <a:ea typeface="Quattrocento Sans"/>
                <a:cs typeface="Quattrocento Sans"/>
                <a:sym typeface="Quattrocento Sans"/>
              </a:rPr>
              <a:t>minutes of recording</a:t>
            </a:r>
          </a:p>
          <a:p>
            <a:pPr indent="0" lvl="0" marL="0" marR="0" rtl="0" algn="l">
              <a:spcBef>
                <a:spcPts val="0"/>
              </a:spcBef>
              <a:spcAft>
                <a:spcPts val="0"/>
              </a:spcAft>
              <a:buNone/>
            </a:pPr>
            <a:r>
              <a:rPr lang="en" sz="1400" b="0">
                <a:solidFill>
                  <a:srgbClr val="52606D"/>
                </a:solidFill>
                <a:latin typeface="Quattrocento Sans"/>
                <a:ea typeface="Quattrocento Sans"/>
                <a:cs typeface="Quattrocento Sans"/>
                <a:sym typeface="Quattrocento Sans"/>
              </a:rPr>
              <a:t>face-to-face, phone-recorded</a:t>
            </a:r>
          </a:p>
        </p:txBody>
      </p:sp>
      <p:sp>
        <p:nvSpPr>
          <p:cNvPr id="7" name="Questions"/>
          <p:cNvSpPr txBox="1"/>
          <p:nvPr/>
        </p:nvSpPr>
        <p:spPr>
          <a:xfrm>
            <a:off x="6400800" y="1051560"/>
            <a:ext cx="219456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400"/>
              </a:spcAft>
              <a:buNone/>
            </a:pPr>
            <a:r>
              <a:rPr lang="en" sz="1100" b="1">
                <a:solidFill>
                  <a:srgbClr val="006FE8"/>
                </a:solidFill>
                <a:latin typeface="Quattrocento Sans"/>
                <a:ea typeface="Quattrocento Sans"/>
                <a:cs typeface="Quattrocento Sans"/>
                <a:sym typeface="Quattrocento Sans"/>
              </a:rPr>
              <a:t>SAME 5 QUESTIONS</a:t>
            </a:r>
          </a:p>
          <a:p>
            <a:pPr indent="0" lvl="0" marL="0" marR="0" rtl="0" algn="l">
              <a:spcBef>
                <a:spcPts val="0"/>
              </a:spcBef>
              <a:spcAft>
                <a:spcPts val="200"/>
              </a:spcAft>
              <a:buNone/>
            </a:pPr>
            <a:r>
              <a:rPr lang="en" sz="1300" b="0">
                <a:solidFill>
                  <a:srgbClr val="52606D"/>
                </a:solidFill>
                <a:latin typeface="Quattrocento Sans"/>
                <a:ea typeface="Quattrocento Sans"/>
                <a:cs typeface="Quattrocento Sans"/>
                <a:sym typeface="Quattrocento Sans"/>
              </a:rPr>
              <a:t>Warm or cold?</a:t>
            </a:r>
          </a:p>
          <a:p>
            <a:pPr indent="0" lvl="0" marL="0" marR="0" rtl="0" algn="l">
              <a:spcBef>
                <a:spcPts val="0"/>
              </a:spcBef>
              <a:spcAft>
                <a:spcPts val="200"/>
              </a:spcAft>
              <a:buNone/>
            </a:pPr>
            <a:r>
              <a:rPr lang="en" sz="1300" b="0">
                <a:solidFill>
                  <a:srgbClr val="52606D"/>
                </a:solidFill>
                <a:latin typeface="Quattrocento Sans"/>
                <a:ea typeface="Quattrocento Sans"/>
                <a:cs typeface="Quattrocento Sans"/>
                <a:sym typeface="Quattrocento Sans"/>
              </a:rPr>
              <a:t>How long do you wait?</a:t>
            </a:r>
          </a:p>
          <a:p>
            <a:pPr indent="0" lvl="0" marL="0" marR="0" rtl="0" algn="l">
              <a:spcBef>
                <a:spcPts val="0"/>
              </a:spcBef>
              <a:spcAft>
                <a:spcPts val="200"/>
              </a:spcAft>
              <a:buNone/>
            </a:pPr>
            <a:r>
              <a:rPr lang="en" sz="1300" b="0">
                <a:solidFill>
                  <a:srgbClr val="52606D"/>
                </a:solidFill>
                <a:latin typeface="Quattrocento Sans"/>
                <a:ea typeface="Quattrocento Sans"/>
                <a:cs typeface="Quattrocento Sans"/>
                <a:sym typeface="Quattrocento Sans"/>
              </a:rPr>
              <a:t>How much is lost?</a:t>
            </a:r>
          </a:p>
          <a:p>
            <a:pPr indent="0" lvl="0" marL="0" marR="0" rtl="0" algn="l">
              <a:spcBef>
                <a:spcPts val="0"/>
              </a:spcBef>
              <a:spcAft>
                <a:spcPts val="200"/>
              </a:spcAft>
              <a:buNone/>
            </a:pPr>
            <a:r>
              <a:rPr lang="en" sz="1300" b="0">
                <a:solidFill>
                  <a:srgbClr val="52606D"/>
                </a:solidFill>
                <a:latin typeface="Quattrocento Sans"/>
                <a:ea typeface="Quattrocento Sans"/>
                <a:cs typeface="Quattrocento Sans"/>
                <a:sym typeface="Quattrocento Sans"/>
              </a:rPr>
              <a:t>What do you do meanwhile?</a:t>
            </a:r>
          </a:p>
          <a:p>
            <a:pPr indent="0" lvl="0" marL="0" marR="0" rtl="0" algn="l">
              <a:spcBef>
                <a:spcPts val="0"/>
              </a:spcBef>
              <a:spcAft>
                <a:spcPts val="0"/>
              </a:spcAft>
              <a:buNone/>
            </a:pPr>
            <a:r>
              <a:rPr lang="en" sz="1300" b="0">
                <a:solidFill>
                  <a:srgbClr val="52606D"/>
                </a:solidFill>
                <a:latin typeface="Quattrocento Sans"/>
                <a:ea typeface="Quattrocento Sans"/>
                <a:cs typeface="Quattrocento Sans"/>
                <a:sym typeface="Quattrocento Sans"/>
              </a:rPr>
              <a:t>What happens to the water?</a:t>
            </a:r>
          </a:p>
        </p:txBody>
      </p:sp>
      <p:sp>
        <p:nvSpPr>
          <p:cNvPr id="8" name="Interviewees"/>
          <p:cNvSpPr txBox="1"/>
          <p:nvPr/>
        </p:nvSpPr>
        <p:spPr>
          <a:xfrm>
            <a:off x="566928" y="3127248"/>
            <a:ext cx="795528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600"/>
              </a:spcAft>
              <a:buNone/>
            </a:pPr>
            <a:r>
              <a:rPr lang="en" sz="1100" b="1">
                <a:solidFill>
                  <a:srgbClr val="006FE8"/>
                </a:solidFill>
                <a:latin typeface="Quattrocento Sans"/>
                <a:ea typeface="Quattrocento Sans"/>
                <a:cs typeface="Quattrocento Sans"/>
                <a:sym typeface="Quattrocento Sans"/>
              </a:rPr>
              <a:t>WHO WE INTERVIEWED</a:t>
            </a:r>
          </a:p>
          <a:p>
            <a:pPr indent="0" lvl="0" marL="0" marR="0" rtl="0" algn="l">
              <a:spcBef>
                <a:spcPts val="0"/>
              </a:spcBef>
              <a:spcAft>
                <a:spcPts val="700"/>
              </a:spcAft>
              <a:buNone/>
            </a:pPr>
            <a:r>
              <a:rPr lang="en" sz="1300" b="1">
                <a:solidFill>
                  <a:srgbClr val="111820"/>
                </a:solidFill>
                <a:latin typeface="Quattrocento Sans"/>
                <a:ea typeface="Quattrocento Sans"/>
                <a:cs typeface="Quattrocento Sans"/>
                <a:sym typeface="Quattrocento Sans"/>
              </a:rPr>
              <a:t xml:space="preserve">Interviewee 1 — “Mr Ali”: </a:t>
            </a:r>
            <a:r>
              <a:rPr lang="en" sz="1200" b="0">
                <a:solidFill>
                  <a:srgbClr val="52606D"/>
                </a:solidFill>
                <a:latin typeface="Quattrocento Sans"/>
                <a:ea typeface="Quattrocento Sans"/>
                <a:cs typeface="Quattrocento Sans"/>
                <a:sym typeface="Quattrocento Sans"/>
              </a:rPr>
              <a:t>older man · warm showers · waits 3–4 min · waits outside the bathroom · nothing collected</a:t>
            </a:r>
          </a:p>
          <a:p>
            <a:pPr indent="0" lvl="0" marL="0" marR="0" rtl="0" algn="l">
              <a:spcBef>
                <a:spcPts val="0"/>
              </a:spcBef>
              <a:spcAft>
                <a:spcPts val="700"/>
              </a:spcAft>
              <a:buNone/>
            </a:pPr>
            <a:r>
              <a:rPr lang="en" sz="1300" b="1">
                <a:solidFill>
                  <a:srgbClr val="111820"/>
                </a:solidFill>
                <a:latin typeface="Quattrocento Sans"/>
                <a:ea typeface="Quattrocento Sans"/>
                <a:cs typeface="Quattrocento Sans"/>
                <a:sym typeface="Quattrocento Sans"/>
              </a:rPr>
              <a:t xml:space="preserve">Interviewee 2 — “Ryan”: </a:t>
            </a:r>
            <a:r>
              <a:rPr lang="en" sz="1200" b="0">
                <a:solidFill>
                  <a:srgbClr val="52606D"/>
                </a:solidFill>
                <a:latin typeface="Quattrocento Sans"/>
                <a:ea typeface="Quattrocento Sans"/>
                <a:cs typeface="Quattrocento Sans"/>
                <a:sym typeface="Quattrocento Sans"/>
              </a:rPr>
              <a:t>young man · warm showers · waits 3–5 min · stays in the bathroom · nothing collected</a:t>
            </a:r>
          </a:p>
          <a:p>
            <a:pPr indent="0" lvl="0" marL="0" marR="0" rtl="0" algn="l">
              <a:spcBef>
                <a:spcPts val="0"/>
              </a:spcBef>
              <a:spcAft>
                <a:spcPts val="0"/>
              </a:spcAft>
              <a:buNone/>
            </a:pPr>
            <a:r>
              <a:rPr lang="en" sz="1300" b="1">
                <a:solidFill>
                  <a:srgbClr val="111820"/>
                </a:solidFill>
                <a:latin typeface="Quattrocento Sans"/>
                <a:ea typeface="Quattrocento Sans"/>
                <a:cs typeface="Quattrocento Sans"/>
                <a:sym typeface="Quattrocento Sans"/>
              </a:rPr>
              <a:t xml:space="preserve">Interviewee 3: </a:t>
            </a:r>
            <a:r>
              <a:rPr lang="en" sz="1200" b="0" i="1">
                <a:solidFill>
                  <a:srgbClr val="52606D"/>
                </a:solidFill>
                <a:latin typeface="Quattrocento Sans"/>
                <a:ea typeface="Quattrocento Sans"/>
                <a:cs typeface="Quattrocento Sans"/>
                <a:sym typeface="Quattrocento Sans"/>
              </a:rPr>
              <a:t>recording (about 4 min) not received — nothing from it is used on these slides</a:t>
            </a:r>
          </a:p>
        </p:txBody>
      </p:sp>
      <p:sp>
        <p:nvSpPr>
          <p:cNvPr id="9" name="Footer caveat"/>
          <p:cNvSpPr txBox="1"/>
          <p:nvPr/>
        </p:nvSpPr>
        <p:spPr>
          <a:xfrm>
            <a:off x="566928" y="4791456"/>
            <a:ext cx="7644384"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000" b="0">
                <a:solidFill>
                  <a:srgbClr val="52606D"/>
                </a:solidFill>
                <a:latin typeface="Quattrocento Sans"/>
                <a:ea typeface="Quattrocento Sans"/>
                <a:cs typeface="Quattrocento Sans"/>
                <a:sym typeface="Quattrocento Sans"/>
              </a:rPr>
              <a:t>Home type, water-heating setup and tenure were not asked. Recordings and timestamps are available for Q&amp;A.</a:t>
            </a:r>
          </a:p>
        </p:txBody>
      </p:sp>
      <p:sp>
        <p:nvSpPr>
          <p:cNvPr id="10" name="Slide number"/>
          <p:cNvSpPr txBox="1"/>
          <p:nvPr/>
        </p:nvSpPr>
        <p:spPr>
          <a:xfrm>
            <a:off x="8357616" y="4791456"/>
            <a:ext cx="356616"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000" b="0">
                <a:solidFill>
                  <a:srgbClr val="52606D"/>
                </a:solidFill>
                <a:latin typeface="Quattrocento Sans"/>
                <a:ea typeface="Quattrocento Sans"/>
                <a:cs typeface="Quattrocento Sans"/>
                <a:sym typeface="Quattrocento Sans"/>
              </a:rPr>
              <a:t>06</a:t>
            </a:r>
          </a:p>
        </p:txBody>
      </p:sp>
    </p:spTree>
  </p:cSld>
  <p:clrMapOvr>
    <a:masterClrMapping/>
  </p:clrMapOvr>
  <mc:AlternateContent xmlns:mc="http://schemas.openxmlformats.org/markup-compatibility/2006" xmlns:p14="http://schemas.microsoft.com/office/powerpoint/2010/main">
    <mc:Choice Requires="p14">
      <p:transition spd="fast" p14:dur="500">
        <p:fade/>
      </p:transition>
    </mc:Choice>
    <mc:Fallback>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par>
                                <p:cTn id="21" presetID="10"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left)">
                                      <p:cBhvr>
                                        <p:cTn id="33"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9"/>
        </a:solidFill>
        <a:effectLst/>
      </p:bgPr>
    </p:bg>
    <p:spTree>
      <p:nvGrpSpPr>
        <p:cNvPr id="1" name=""/>
        <p:cNvGrpSpPr/>
        <p:nvPr/>
      </p:nvGrpSpPr>
      <p:grpSpPr/>
      <p:sp>
        <p:nvSpPr>
          <p:cNvPr id="2" name="Section label"/>
          <p:cNvSpPr txBox="1"/>
          <p:nvPr/>
        </p:nvSpPr>
        <p:spPr>
          <a:xfrm>
            <a:off x="566928" y="356616"/>
            <a:ext cx="8001000" cy="2103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100" b="1">
                <a:solidFill>
                  <a:srgbClr val="006FE8"/>
                </a:solidFill>
                <a:latin typeface="Quattrocento Sans"/>
                <a:ea typeface="Quattrocento Sans"/>
                <a:cs typeface="Quattrocento Sans"/>
                <a:sym typeface="Quattrocento Sans"/>
              </a:rPr>
              <a:t>EVIDENCE — IN THEIR WORDS</a:t>
            </a:r>
          </a:p>
        </p:txBody>
      </p:sp>
      <p:sp>
        <p:nvSpPr>
          <p:cNvPr id="3" name="Headline"/>
          <p:cNvSpPr txBox="1"/>
          <p:nvPr/>
        </p:nvSpPr>
        <p:spPr>
          <a:xfrm>
            <a:off x="539496" y="713232"/>
            <a:ext cx="813816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2600" b="1">
                <a:solidFill>
                  <a:srgbClr val="111820"/>
                </a:solidFill>
                <a:latin typeface="Quattrocento Sans"/>
                <a:ea typeface="Quattrocento Sans"/>
                <a:cs typeface="Quattrocento Sans"/>
                <a:sym typeface="Quattrocento Sans"/>
              </a:rPr>
              <a:t>Four things we heard</a:t>
            </a:r>
          </a:p>
        </p:txBody>
      </p:sp>
      <p:sp>
        <p:nvSpPr>
          <p:cNvPr id="4" name="Quote card 1"/>
          <p:cNvSpPr/>
          <p:nvPr/>
        </p:nvSpPr>
        <p:spPr>
          <a:xfrm>
            <a:off x="566928" y="1325880"/>
            <a:ext cx="3840480" cy="1481328"/>
          </a:xfrm>
          <a:prstGeom prst="rect">
            <a:avLst/>
          </a:prstGeom>
          <a:solidFill>
            <a:srgbClr val="FFFFFF"/>
          </a:solidFill>
          <a:ln w="7150" cap="rnd">
            <a:solidFill>
              <a:srgbClr val="D7DFE5"/>
            </a:solidFill>
            <a:round/>
          </a:ln>
        </p:spPr>
        <p:txBody>
          <a:bodyPr anchor="ctr" lIns="0" rIns="0" tIns="0" bIns="0">
            <a:noAutofit/>
          </a:bodyPr>
          <a:lstStyle/>
          <a:p>
            <a:pPr indent="0" lvl="0" marL="0" marR="0" rtl="0" algn="l">
              <a:spcBef>
                <a:spcPts val="0"/>
              </a:spcBef>
              <a:spcAft>
                <a:spcPts val="0"/>
              </a:spcAft>
              <a:buNone/>
            </a:pPr>
          </a:p>
        </p:txBody>
      </p:sp>
      <p:sp>
        <p:nvSpPr>
          <p:cNvPr id="5" name="Quote mark 1"/>
          <p:cNvSpPr txBox="1"/>
          <p:nvPr/>
        </p:nvSpPr>
        <p:spPr>
          <a:xfrm>
            <a:off x="704088" y="1344168"/>
            <a:ext cx="4572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4400" b="1">
                <a:solidFill>
                  <a:srgbClr val="006FE8"/>
                </a:solidFill>
                <a:latin typeface="Quattrocento Sans"/>
                <a:ea typeface="Quattrocento Sans"/>
                <a:cs typeface="Quattrocento Sans"/>
                <a:sym typeface="Quattrocento Sans"/>
              </a:rPr>
              <a:t>“</a:t>
            </a:r>
          </a:p>
        </p:txBody>
      </p:sp>
      <p:sp>
        <p:nvSpPr>
          <p:cNvPr id="6" name="Quote 1"/>
          <p:cNvSpPr txBox="1"/>
          <p:nvPr/>
        </p:nvSpPr>
        <p:spPr>
          <a:xfrm>
            <a:off x="1042416" y="1490472"/>
            <a:ext cx="3200400" cy="7772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lang="en" sz="1600" b="1">
                <a:solidFill>
                  <a:srgbClr val="111820"/>
                </a:solidFill>
                <a:latin typeface="Quattrocento Sans"/>
                <a:ea typeface="Quattrocento Sans"/>
                <a:cs typeface="Quattrocento Sans"/>
                <a:sym typeface="Quattrocento Sans"/>
              </a:rPr>
              <a:t>“About 3 to 4 minutes.”</a:t>
            </a:r>
          </a:p>
        </p:txBody>
      </p:sp>
      <p:sp>
        <p:nvSpPr>
          <p:cNvPr id="7" name="Attribution 1"/>
          <p:cNvSpPr txBox="1"/>
          <p:nvPr/>
        </p:nvSpPr>
        <p:spPr>
          <a:xfrm>
            <a:off x="1042416" y="2331720"/>
            <a:ext cx="320040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100"/>
              </a:spcAft>
              <a:buNone/>
            </a:pPr>
            <a:r>
              <a:rPr lang="en" sz="1000" b="0" i="1">
                <a:solidFill>
                  <a:srgbClr val="52606D"/>
                </a:solidFill>
                <a:latin typeface="Quattrocento Sans"/>
                <a:ea typeface="Quattrocento Sans"/>
                <a:cs typeface="Quattrocento Sans"/>
                <a:sym typeface="Quattrocento Sans"/>
              </a:rPr>
              <a:t>How long do you wait for warm water?</a:t>
            </a:r>
          </a:p>
          <a:p>
            <a:pPr indent="0" lvl="0" marL="0" marR="0" rtl="0" algn="l">
              <a:spcBef>
                <a:spcPts val="0"/>
              </a:spcBef>
              <a:spcAft>
                <a:spcPts val="0"/>
              </a:spcAft>
              <a:buNone/>
            </a:pPr>
            <a:r>
              <a:rPr lang="en" sz="1000" b="0">
                <a:solidFill>
                  <a:srgbClr val="52606D"/>
                </a:solidFill>
                <a:latin typeface="Quattrocento Sans"/>
                <a:ea typeface="Quattrocento Sans"/>
                <a:cs typeface="Quattrocento Sans"/>
                <a:sym typeface="Quattrocento Sans"/>
              </a:rPr>
              <a:t>— Interviewee 1, older man · 00:22</a:t>
            </a:r>
          </a:p>
        </p:txBody>
      </p:sp>
      <p:sp>
        <p:nvSpPr>
          <p:cNvPr id="8" name="Quote card 2"/>
          <p:cNvSpPr/>
          <p:nvPr/>
        </p:nvSpPr>
        <p:spPr>
          <a:xfrm>
            <a:off x="4663440" y="1325880"/>
            <a:ext cx="3840480" cy="1481328"/>
          </a:xfrm>
          <a:prstGeom prst="rect">
            <a:avLst/>
          </a:prstGeom>
          <a:solidFill>
            <a:srgbClr val="FFFFFF"/>
          </a:solidFill>
          <a:ln w="7150" cap="rnd">
            <a:solidFill>
              <a:srgbClr val="D7DFE5"/>
            </a:solidFill>
            <a:round/>
          </a:ln>
        </p:spPr>
        <p:txBody>
          <a:bodyPr anchor="ctr" lIns="0" rIns="0" tIns="0" bIns="0">
            <a:noAutofit/>
          </a:bodyPr>
          <a:lstStyle/>
          <a:p>
            <a:pPr indent="0" lvl="0" marL="0" marR="0" rtl="0" algn="l">
              <a:spcBef>
                <a:spcPts val="0"/>
              </a:spcBef>
              <a:spcAft>
                <a:spcPts val="0"/>
              </a:spcAft>
              <a:buNone/>
            </a:pPr>
          </a:p>
        </p:txBody>
      </p:sp>
      <p:sp>
        <p:nvSpPr>
          <p:cNvPr id="9" name="Quote mark 2"/>
          <p:cNvSpPr txBox="1"/>
          <p:nvPr/>
        </p:nvSpPr>
        <p:spPr>
          <a:xfrm>
            <a:off x="4800600" y="1344168"/>
            <a:ext cx="4572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4400" b="1">
                <a:solidFill>
                  <a:srgbClr val="006FE8"/>
                </a:solidFill>
                <a:latin typeface="Quattrocento Sans"/>
                <a:ea typeface="Quattrocento Sans"/>
                <a:cs typeface="Quattrocento Sans"/>
                <a:sym typeface="Quattrocento Sans"/>
              </a:rPr>
              <a:t>“</a:t>
            </a:r>
          </a:p>
        </p:txBody>
      </p:sp>
      <p:sp>
        <p:nvSpPr>
          <p:cNvPr id="10" name="Quote 2"/>
          <p:cNvSpPr txBox="1"/>
          <p:nvPr/>
        </p:nvSpPr>
        <p:spPr>
          <a:xfrm>
            <a:off x="5138928" y="1490472"/>
            <a:ext cx="3200400" cy="7772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lang="en" sz="1600" b="1">
                <a:solidFill>
                  <a:srgbClr val="111820"/>
                </a:solidFill>
                <a:latin typeface="Quattrocento Sans"/>
                <a:ea typeface="Quattrocento Sans"/>
                <a:cs typeface="Quattrocento Sans"/>
                <a:sym typeface="Quattrocento Sans"/>
              </a:rPr>
              <a:t>“I just let the water run until it gets warm and just sit there.”</a:t>
            </a:r>
          </a:p>
        </p:txBody>
      </p:sp>
      <p:sp>
        <p:nvSpPr>
          <p:cNvPr id="11" name="Attribution 2"/>
          <p:cNvSpPr txBox="1"/>
          <p:nvPr/>
        </p:nvSpPr>
        <p:spPr>
          <a:xfrm>
            <a:off x="5138928" y="2331720"/>
            <a:ext cx="320040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100"/>
              </a:spcAft>
              <a:buNone/>
            </a:pPr>
            <a:r>
              <a:rPr lang="en" sz="1000" b="0" i="1">
                <a:solidFill>
                  <a:srgbClr val="52606D"/>
                </a:solidFill>
                <a:latin typeface="Quattrocento Sans"/>
                <a:ea typeface="Quattrocento Sans"/>
                <a:cs typeface="Quattrocento Sans"/>
                <a:sym typeface="Quattrocento Sans"/>
              </a:rPr>
              <a:t>What do you do while you wait?</a:t>
            </a:r>
          </a:p>
          <a:p>
            <a:pPr indent="0" lvl="0" marL="0" marR="0" rtl="0" algn="l">
              <a:spcBef>
                <a:spcPts val="0"/>
              </a:spcBef>
              <a:spcAft>
                <a:spcPts val="0"/>
              </a:spcAft>
              <a:buNone/>
            </a:pPr>
            <a:r>
              <a:rPr lang="en" sz="1000" b="0">
                <a:solidFill>
                  <a:srgbClr val="52606D"/>
                </a:solidFill>
                <a:latin typeface="Quattrocento Sans"/>
                <a:ea typeface="Quattrocento Sans"/>
                <a:cs typeface="Quattrocento Sans"/>
                <a:sym typeface="Quattrocento Sans"/>
              </a:rPr>
              <a:t>— Interviewee 2, young man · 00:40</a:t>
            </a:r>
          </a:p>
        </p:txBody>
      </p:sp>
      <p:sp>
        <p:nvSpPr>
          <p:cNvPr id="12" name="Quote card 3"/>
          <p:cNvSpPr/>
          <p:nvPr/>
        </p:nvSpPr>
        <p:spPr>
          <a:xfrm>
            <a:off x="566928" y="3008376"/>
            <a:ext cx="3840480" cy="1481328"/>
          </a:xfrm>
          <a:prstGeom prst="rect">
            <a:avLst/>
          </a:prstGeom>
          <a:solidFill>
            <a:srgbClr val="FFFFFF"/>
          </a:solidFill>
          <a:ln w="7150" cap="rnd">
            <a:solidFill>
              <a:srgbClr val="D7DFE5"/>
            </a:solidFill>
            <a:round/>
          </a:ln>
        </p:spPr>
        <p:txBody>
          <a:bodyPr anchor="ctr" lIns="0" rIns="0" tIns="0" bIns="0">
            <a:noAutofit/>
          </a:bodyPr>
          <a:lstStyle/>
          <a:p>
            <a:pPr indent="0" lvl="0" marL="0" marR="0" rtl="0" algn="l">
              <a:spcBef>
                <a:spcPts val="0"/>
              </a:spcBef>
              <a:spcAft>
                <a:spcPts val="0"/>
              </a:spcAft>
              <a:buNone/>
            </a:pPr>
          </a:p>
        </p:txBody>
      </p:sp>
      <p:sp>
        <p:nvSpPr>
          <p:cNvPr id="13" name="Quote mark 3"/>
          <p:cNvSpPr txBox="1"/>
          <p:nvPr/>
        </p:nvSpPr>
        <p:spPr>
          <a:xfrm>
            <a:off x="704088" y="3026664"/>
            <a:ext cx="4572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4400" b="1">
                <a:solidFill>
                  <a:srgbClr val="006FE8"/>
                </a:solidFill>
                <a:latin typeface="Quattrocento Sans"/>
                <a:ea typeface="Quattrocento Sans"/>
                <a:cs typeface="Quattrocento Sans"/>
                <a:sym typeface="Quattrocento Sans"/>
              </a:rPr>
              <a:t>“</a:t>
            </a:r>
          </a:p>
        </p:txBody>
      </p:sp>
      <p:sp>
        <p:nvSpPr>
          <p:cNvPr id="14" name="Quote 3"/>
          <p:cNvSpPr txBox="1"/>
          <p:nvPr/>
        </p:nvSpPr>
        <p:spPr>
          <a:xfrm>
            <a:off x="1042416" y="3172968"/>
            <a:ext cx="3200400" cy="7772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lang="en" sz="1600" b="1">
                <a:solidFill>
                  <a:srgbClr val="111820"/>
                </a:solidFill>
                <a:latin typeface="Quattrocento Sans"/>
                <a:ea typeface="Quattrocento Sans"/>
                <a:cs typeface="Quattrocento Sans"/>
                <a:sym typeface="Quattrocento Sans"/>
              </a:rPr>
              <a:t>“I’m waiting outside.”</a:t>
            </a:r>
          </a:p>
        </p:txBody>
      </p:sp>
      <p:sp>
        <p:nvSpPr>
          <p:cNvPr id="15" name="Attribution 3"/>
          <p:cNvSpPr txBox="1"/>
          <p:nvPr/>
        </p:nvSpPr>
        <p:spPr>
          <a:xfrm>
            <a:off x="1042416" y="4014216"/>
            <a:ext cx="320040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100"/>
              </a:spcAft>
              <a:buNone/>
            </a:pPr>
            <a:r>
              <a:rPr lang="en" sz="1000" b="0" i="1">
                <a:solidFill>
                  <a:srgbClr val="52606D"/>
                </a:solidFill>
                <a:latin typeface="Quattrocento Sans"/>
                <a:ea typeface="Quattrocento Sans"/>
                <a:cs typeface="Quattrocento Sans"/>
                <a:sym typeface="Quattrocento Sans"/>
              </a:rPr>
              <a:t>What do you do while you wait?</a:t>
            </a:r>
          </a:p>
          <a:p>
            <a:pPr indent="0" lvl="0" marL="0" marR="0" rtl="0" algn="l">
              <a:spcBef>
                <a:spcPts val="0"/>
              </a:spcBef>
              <a:spcAft>
                <a:spcPts val="0"/>
              </a:spcAft>
              <a:buNone/>
            </a:pPr>
            <a:r>
              <a:rPr lang="en" sz="1000" b="0">
                <a:solidFill>
                  <a:srgbClr val="52606D"/>
                </a:solidFill>
                <a:latin typeface="Quattrocento Sans"/>
                <a:ea typeface="Quattrocento Sans"/>
                <a:cs typeface="Quattrocento Sans"/>
                <a:sym typeface="Quattrocento Sans"/>
              </a:rPr>
              <a:t>— Interviewee 1, older man · 00:45</a:t>
            </a:r>
          </a:p>
        </p:txBody>
      </p:sp>
      <p:sp>
        <p:nvSpPr>
          <p:cNvPr id="16" name="Quote card 4"/>
          <p:cNvSpPr/>
          <p:nvPr/>
        </p:nvSpPr>
        <p:spPr>
          <a:xfrm>
            <a:off x="4663440" y="3008376"/>
            <a:ext cx="3840480" cy="1481328"/>
          </a:xfrm>
          <a:prstGeom prst="rect">
            <a:avLst/>
          </a:prstGeom>
          <a:solidFill>
            <a:srgbClr val="FFFFFF"/>
          </a:solidFill>
          <a:ln w="7150" cap="rnd">
            <a:solidFill>
              <a:srgbClr val="D7DFE5"/>
            </a:solidFill>
            <a:round/>
          </a:ln>
        </p:spPr>
        <p:txBody>
          <a:bodyPr anchor="ctr" lIns="0" rIns="0" tIns="0" bIns="0">
            <a:noAutofit/>
          </a:bodyPr>
          <a:lstStyle/>
          <a:p>
            <a:pPr indent="0" lvl="0" marL="0" marR="0" rtl="0" algn="l">
              <a:spcBef>
                <a:spcPts val="0"/>
              </a:spcBef>
              <a:spcAft>
                <a:spcPts val="0"/>
              </a:spcAft>
              <a:buNone/>
            </a:pPr>
          </a:p>
        </p:txBody>
      </p:sp>
      <p:sp>
        <p:nvSpPr>
          <p:cNvPr id="17" name="Quote mark 4"/>
          <p:cNvSpPr txBox="1"/>
          <p:nvPr/>
        </p:nvSpPr>
        <p:spPr>
          <a:xfrm>
            <a:off x="4800600" y="3026664"/>
            <a:ext cx="4572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4400" b="1">
                <a:solidFill>
                  <a:srgbClr val="006FE8"/>
                </a:solidFill>
                <a:latin typeface="Quattrocento Sans"/>
                <a:ea typeface="Quattrocento Sans"/>
                <a:cs typeface="Quattrocento Sans"/>
                <a:sym typeface="Quattrocento Sans"/>
              </a:rPr>
              <a:t>“</a:t>
            </a:r>
          </a:p>
        </p:txBody>
      </p:sp>
      <p:sp>
        <p:nvSpPr>
          <p:cNvPr id="18" name="Quote 4"/>
          <p:cNvSpPr txBox="1"/>
          <p:nvPr/>
        </p:nvSpPr>
        <p:spPr>
          <a:xfrm>
            <a:off x="5138928" y="3172968"/>
            <a:ext cx="3200400" cy="7772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lang="en" sz="1600" b="1">
                <a:solidFill>
                  <a:srgbClr val="111820"/>
                </a:solidFill>
                <a:latin typeface="Quattrocento Sans"/>
                <a:ea typeface="Quattrocento Sans"/>
                <a:cs typeface="Quattrocento Sans"/>
                <a:sym typeface="Quattrocento Sans"/>
              </a:rPr>
              <a:t>“No idea, but…</a:t>
            </a:r>
          </a:p>
          <a:p>
            <a:pPr indent="0" lvl="0" marL="0" marR="0" rtl="0" algn="l">
              <a:lnSpc>
                <a:spcPct val="105000"/>
              </a:lnSpc>
              <a:spcBef>
                <a:spcPts val="0"/>
              </a:spcBef>
              <a:spcAft>
                <a:spcPts val="0"/>
              </a:spcAft>
              <a:buNone/>
            </a:pPr>
            <a:r>
              <a:rPr lang="en" sz="1600" b="1">
                <a:solidFill>
                  <a:srgbClr val="111820"/>
                </a:solidFill>
                <a:latin typeface="Quattrocento Sans"/>
                <a:ea typeface="Quattrocento Sans"/>
                <a:cs typeface="Quattrocento Sans"/>
                <a:sym typeface="Quattrocento Sans"/>
              </a:rPr>
              <a:t>I would say at least a bucket.”</a:t>
            </a:r>
          </a:p>
        </p:txBody>
      </p:sp>
      <p:sp>
        <p:nvSpPr>
          <p:cNvPr id="19" name="Attribution 4"/>
          <p:cNvSpPr txBox="1"/>
          <p:nvPr/>
        </p:nvSpPr>
        <p:spPr>
          <a:xfrm>
            <a:off x="5138928" y="4014216"/>
            <a:ext cx="320040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100"/>
              </a:spcAft>
              <a:buNone/>
            </a:pPr>
            <a:r>
              <a:rPr lang="en" sz="1000" b="0" i="1">
                <a:solidFill>
                  <a:srgbClr val="52606D"/>
                </a:solidFill>
                <a:latin typeface="Quattrocento Sans"/>
                <a:ea typeface="Quattrocento Sans"/>
                <a:cs typeface="Quattrocento Sans"/>
                <a:sym typeface="Quattrocento Sans"/>
              </a:rPr>
              <a:t>How much water is lost?</a:t>
            </a:r>
          </a:p>
          <a:p>
            <a:pPr indent="0" lvl="0" marL="0" marR="0" rtl="0" algn="l">
              <a:spcBef>
                <a:spcPts val="0"/>
              </a:spcBef>
              <a:spcAft>
                <a:spcPts val="0"/>
              </a:spcAft>
              <a:buNone/>
            </a:pPr>
            <a:r>
              <a:rPr lang="en" sz="1000" b="0">
                <a:solidFill>
                  <a:srgbClr val="52606D"/>
                </a:solidFill>
                <a:latin typeface="Quattrocento Sans"/>
                <a:ea typeface="Quattrocento Sans"/>
                <a:cs typeface="Quattrocento Sans"/>
                <a:sym typeface="Quattrocento Sans"/>
              </a:rPr>
              <a:t>— Interviewee 1, older man · 00:34</a:t>
            </a:r>
          </a:p>
        </p:txBody>
      </p:sp>
      <p:sp>
        <p:nvSpPr>
          <p:cNvPr id="20" name="Footer caveat"/>
          <p:cNvSpPr txBox="1"/>
          <p:nvPr/>
        </p:nvSpPr>
        <p:spPr>
          <a:xfrm>
            <a:off x="566928" y="4791456"/>
            <a:ext cx="7644384"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000" b="0">
                <a:solidFill>
                  <a:srgbClr val="52606D"/>
                </a:solidFill>
                <a:latin typeface="Quattrocento Sans"/>
                <a:ea typeface="Quattrocento Sans"/>
                <a:cs typeface="Quattrocento Sans"/>
                <a:sym typeface="Quattrocento Sans"/>
              </a:rPr>
              <a:t>Verbatim from the recordings (Whisper transcript, cross-checked). Timestamps are mm:ss in each video.</a:t>
            </a:r>
          </a:p>
        </p:txBody>
      </p:sp>
      <p:sp>
        <p:nvSpPr>
          <p:cNvPr id="21" name="Slide number"/>
          <p:cNvSpPr txBox="1"/>
          <p:nvPr/>
        </p:nvSpPr>
        <p:spPr>
          <a:xfrm>
            <a:off x="8357616" y="4791456"/>
            <a:ext cx="356616"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000" b="0">
                <a:solidFill>
                  <a:srgbClr val="52606D"/>
                </a:solidFill>
                <a:latin typeface="Quattrocento Sans"/>
                <a:ea typeface="Quattrocento Sans"/>
                <a:cs typeface="Quattrocento Sans"/>
                <a:sym typeface="Quattrocento Sans"/>
              </a:rPr>
              <a:t>07</a:t>
            </a:r>
          </a:p>
        </p:txBody>
      </p:sp>
    </p:spTree>
  </p:cSld>
  <p:clrMapOvr>
    <a:masterClrMapping/>
  </p:clrMapOvr>
  <mc:AlternateContent xmlns:mc="http://schemas.openxmlformats.org/markup-compatibility/2006" xmlns:p14="http://schemas.microsoft.com/office/powerpoint/2010/main">
    <mc:Choice Requires="p14">
      <p:transition spd="fast" p14:dur="500">
        <p:fade/>
      </p:transition>
    </mc:Choice>
    <mc:Fallback>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500"/>
                                        <p:tgtEl>
                                          <p:spTgt spid="1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500"/>
                                        <p:tgtEl>
                                          <p:spTgt spid="1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500"/>
                                        <p:tgtEl>
                                          <p:spTgt spid="1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500"/>
                                        <p:tgtEl>
                                          <p:spTgt spid="17"/>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500"/>
                                        <p:tgtEl>
                                          <p:spTgt spid="1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5080D"/>
        </a:solidFill>
        <a:effectLst/>
      </p:bgPr>
    </p:bg>
    <p:spTree>
      <p:nvGrpSpPr>
        <p:cNvPr id="1" name=""/>
        <p:cNvGrpSpPr/>
        <p:nvPr/>
      </p:nvGrpSpPr>
      <p:grpSpPr/>
      <p:sp>
        <p:nvSpPr>
          <p:cNvPr id="2" name="Section label"/>
          <p:cNvSpPr txBox="1"/>
          <p:nvPr/>
        </p:nvSpPr>
        <p:spPr>
          <a:xfrm>
            <a:off x="566928" y="356616"/>
            <a:ext cx="8001000" cy="2103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100" b="1">
                <a:solidFill>
                  <a:srgbClr val="80D6FF"/>
                </a:solidFill>
                <a:latin typeface="Quattrocento Sans"/>
                <a:ea typeface="Quattrocento Sans"/>
                <a:cs typeface="Quattrocento Sans"/>
                <a:sym typeface="Quattrocento Sans"/>
              </a:rPr>
              <a:t>EVIDENCE — WHAT WE DID NOT KNOW AT THE START</a:t>
            </a:r>
          </a:p>
        </p:txBody>
      </p:sp>
      <p:sp>
        <p:nvSpPr>
          <p:cNvPr id="3" name="Number 1"/>
          <p:cNvSpPr txBox="1"/>
          <p:nvPr/>
        </p:nvSpPr>
        <p:spPr>
          <a:xfrm>
            <a:off x="557784" y="896112"/>
            <a:ext cx="996696" cy="6675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3800" b="1">
                <a:solidFill>
                  <a:srgbClr val="80D6FF"/>
                </a:solidFill>
                <a:latin typeface="Quattrocento Sans"/>
                <a:ea typeface="Quattrocento Sans"/>
                <a:cs typeface="Quattrocento Sans"/>
                <a:sym typeface="Quattrocento Sans"/>
              </a:rPr>
              <a:t>01</a:t>
            </a:r>
          </a:p>
        </p:txBody>
      </p:sp>
      <p:sp>
        <p:nvSpPr>
          <p:cNvPr id="4" name="Surprise title 1"/>
          <p:cNvSpPr txBox="1"/>
          <p:nvPr/>
        </p:nvSpPr>
        <p:spPr>
          <a:xfrm>
            <a:off x="1764792" y="932688"/>
            <a:ext cx="678484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2400" b="1">
                <a:solidFill>
                  <a:srgbClr val="FFFFFF"/>
                </a:solidFill>
                <a:latin typeface="Quattrocento Sans"/>
                <a:ea typeface="Quattrocento Sans"/>
                <a:cs typeface="Quattrocento Sans"/>
                <a:sym typeface="Quattrocento Sans"/>
              </a:rPr>
              <a:t>Minutes, not seconds</a:t>
            </a:r>
          </a:p>
        </p:txBody>
      </p:sp>
      <p:sp>
        <p:nvSpPr>
          <p:cNvPr id="5" name="Surprise body 1"/>
          <p:cNvSpPr txBox="1"/>
          <p:nvPr/>
        </p:nvSpPr>
        <p:spPr>
          <a:xfrm>
            <a:off x="1783080" y="1426464"/>
            <a:ext cx="66751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500" b="0">
                <a:solidFill>
                  <a:srgbClr val="B5C1CC"/>
                </a:solidFill>
                <a:latin typeface="Quattrocento Sans"/>
                <a:ea typeface="Quattrocento Sans"/>
                <a:cs typeface="Quattrocento Sans"/>
                <a:sym typeface="Quattrocento Sans"/>
              </a:rPr>
              <a:t>We had assumed about 30 seconds.</a:t>
            </a:r>
          </a:p>
          <a:p>
            <a:pPr indent="0" lvl="0" marL="0" marR="0" rtl="0" algn="l">
              <a:spcBef>
                <a:spcPts val="0"/>
              </a:spcBef>
              <a:spcAft>
                <a:spcPts val="0"/>
              </a:spcAft>
              <a:buNone/>
            </a:pPr>
            <a:r>
              <a:rPr lang="en" sz="1500" b="0">
                <a:solidFill>
                  <a:srgbClr val="B5C1CC"/>
                </a:solidFill>
                <a:latin typeface="Quattrocento Sans"/>
                <a:ea typeface="Quattrocento Sans"/>
                <a:cs typeface="Quattrocento Sans"/>
                <a:sym typeface="Quattrocento Sans"/>
              </a:rPr>
              <a:t>They said 3–4 and 3–5 minutes: six to ten times longer.</a:t>
            </a:r>
          </a:p>
        </p:txBody>
      </p:sp>
      <p:sp>
        <p:nvSpPr>
          <p:cNvPr id="6" name="Number 2"/>
          <p:cNvSpPr txBox="1"/>
          <p:nvPr/>
        </p:nvSpPr>
        <p:spPr>
          <a:xfrm>
            <a:off x="557784" y="2157984"/>
            <a:ext cx="996696" cy="6675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3800" b="1">
                <a:solidFill>
                  <a:srgbClr val="80D6FF"/>
                </a:solidFill>
                <a:latin typeface="Quattrocento Sans"/>
                <a:ea typeface="Quattrocento Sans"/>
                <a:cs typeface="Quattrocento Sans"/>
                <a:sym typeface="Quattrocento Sans"/>
              </a:rPr>
              <a:t>02</a:t>
            </a:r>
          </a:p>
        </p:txBody>
      </p:sp>
      <p:sp>
        <p:nvSpPr>
          <p:cNvPr id="7" name="Surprise title 2"/>
          <p:cNvSpPr txBox="1"/>
          <p:nvPr/>
        </p:nvSpPr>
        <p:spPr>
          <a:xfrm>
            <a:off x="1764792" y="2194560"/>
            <a:ext cx="678484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2400" b="1">
                <a:solidFill>
                  <a:srgbClr val="FFFFFF"/>
                </a:solidFill>
                <a:latin typeface="Quattrocento Sans"/>
                <a:ea typeface="Quattrocento Sans"/>
                <a:cs typeface="Quattrocento Sans"/>
                <a:sym typeface="Quattrocento Sans"/>
              </a:rPr>
              <a:t>Nobody measures the loss</a:t>
            </a:r>
          </a:p>
        </p:txBody>
      </p:sp>
      <p:sp>
        <p:nvSpPr>
          <p:cNvPr id="8" name="Surprise body 2"/>
          <p:cNvSpPr txBox="1"/>
          <p:nvPr/>
        </p:nvSpPr>
        <p:spPr>
          <a:xfrm>
            <a:off x="1783080" y="2688336"/>
            <a:ext cx="66751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500" b="0">
                <a:solidFill>
                  <a:srgbClr val="B5C1CC"/>
                </a:solidFill>
                <a:latin typeface="Quattrocento Sans"/>
                <a:ea typeface="Quattrocento Sans"/>
                <a:cs typeface="Quattrocento Sans"/>
                <a:sym typeface="Quattrocento Sans"/>
              </a:rPr>
              <a:t>“No idea… at least a bucket.”  “I don’t know the exact number…”</a:t>
            </a:r>
          </a:p>
          <a:p>
            <a:pPr indent="0" lvl="0" marL="0" marR="0" rtl="0" algn="l">
              <a:spcBef>
                <a:spcPts val="0"/>
              </a:spcBef>
              <a:spcAft>
                <a:spcPts val="0"/>
              </a:spcAft>
              <a:buNone/>
            </a:pPr>
            <a:r>
              <a:rPr lang="en" sz="1500" b="0">
                <a:solidFill>
                  <a:srgbClr val="B5C1CC"/>
                </a:solidFill>
                <a:latin typeface="Quattrocento Sans"/>
                <a:ea typeface="Quattrocento Sans"/>
                <a:cs typeface="Quattrocento Sans"/>
                <a:sym typeface="Quattrocento Sans"/>
              </a:rPr>
              <a:t>The run-off is invisible while it happens.</a:t>
            </a:r>
          </a:p>
        </p:txBody>
      </p:sp>
      <p:sp>
        <p:nvSpPr>
          <p:cNvPr id="9" name="Number 3"/>
          <p:cNvSpPr txBox="1"/>
          <p:nvPr/>
        </p:nvSpPr>
        <p:spPr>
          <a:xfrm>
            <a:off x="557784" y="3419856"/>
            <a:ext cx="996696" cy="6675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3800" b="1">
                <a:solidFill>
                  <a:srgbClr val="80D6FF"/>
                </a:solidFill>
                <a:latin typeface="Quattrocento Sans"/>
                <a:ea typeface="Quattrocento Sans"/>
                <a:cs typeface="Quattrocento Sans"/>
                <a:sym typeface="Quattrocento Sans"/>
              </a:rPr>
              <a:t>03</a:t>
            </a:r>
          </a:p>
        </p:txBody>
      </p:sp>
      <p:sp>
        <p:nvSpPr>
          <p:cNvPr id="10" name="Surprise title 3"/>
          <p:cNvSpPr txBox="1"/>
          <p:nvPr/>
        </p:nvSpPr>
        <p:spPr>
          <a:xfrm>
            <a:off x="1764792" y="3456432"/>
            <a:ext cx="678484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2400" b="1">
                <a:solidFill>
                  <a:srgbClr val="FFFFFF"/>
                </a:solidFill>
                <a:latin typeface="Quattrocento Sans"/>
                <a:ea typeface="Quattrocento Sans"/>
                <a:cs typeface="Quattrocento Sans"/>
                <a:sym typeface="Quattrocento Sans"/>
              </a:rPr>
              <a:t>Waiting looks different in each home</a:t>
            </a:r>
          </a:p>
        </p:txBody>
      </p:sp>
      <p:sp>
        <p:nvSpPr>
          <p:cNvPr id="11" name="Surprise body 3"/>
          <p:cNvSpPr txBox="1"/>
          <p:nvPr/>
        </p:nvSpPr>
        <p:spPr>
          <a:xfrm>
            <a:off x="1783080" y="3950208"/>
            <a:ext cx="66751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500" b="0">
                <a:solidFill>
                  <a:srgbClr val="B5C1CC"/>
                </a:solidFill>
                <a:latin typeface="Quattrocento Sans"/>
                <a:ea typeface="Quattrocento Sans"/>
                <a:cs typeface="Quattrocento Sans"/>
                <a:sym typeface="Quattrocento Sans"/>
              </a:rPr>
              <a:t>One leaves the room (“I’m waiting outside”); one stays (“just sit there”).</a:t>
            </a:r>
          </a:p>
          <a:p>
            <a:pPr indent="0" lvl="0" marL="0" marR="0" rtl="0" algn="l">
              <a:spcBef>
                <a:spcPts val="0"/>
              </a:spcBef>
              <a:spcAft>
                <a:spcPts val="0"/>
              </a:spcAft>
              <a:buNone/>
            </a:pPr>
            <a:r>
              <a:rPr lang="en" sz="1500" b="0">
                <a:solidFill>
                  <a:srgbClr val="B5C1CC"/>
                </a:solidFill>
                <a:latin typeface="Quattrocento Sans"/>
                <a:ea typeface="Quattrocento Sans"/>
                <a:cs typeface="Quattrocento Sans"/>
                <a:sym typeface="Quattrocento Sans"/>
              </a:rPr>
              <a:t>Either way, the water goes down the drain.</a:t>
            </a:r>
          </a:p>
        </p:txBody>
      </p:sp>
      <p:sp>
        <p:nvSpPr>
          <p:cNvPr id="12" name="Footer caveat"/>
          <p:cNvSpPr txBox="1"/>
          <p:nvPr/>
        </p:nvSpPr>
        <p:spPr>
          <a:xfrm>
            <a:off x="566928" y="4791456"/>
            <a:ext cx="7644384"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000" b="0">
                <a:solidFill>
                  <a:srgbClr val="B5C1CC"/>
                </a:solidFill>
                <a:latin typeface="Quattrocento Sans"/>
                <a:ea typeface="Quattrocento Sans"/>
                <a:cs typeface="Quattrocento Sans"/>
                <a:sym typeface="Quattrocento Sans"/>
              </a:rPr>
              <a:t>Winter effect, home type and water-heating setup were not covered in the two recordings — to test in interview 3.</a:t>
            </a:r>
          </a:p>
        </p:txBody>
      </p:sp>
      <p:sp>
        <p:nvSpPr>
          <p:cNvPr id="13" name="Slide number"/>
          <p:cNvSpPr txBox="1"/>
          <p:nvPr/>
        </p:nvSpPr>
        <p:spPr>
          <a:xfrm>
            <a:off x="8357616" y="4791456"/>
            <a:ext cx="356616"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000" b="0">
                <a:solidFill>
                  <a:srgbClr val="B5C1CC"/>
                </a:solidFill>
                <a:latin typeface="Quattrocento Sans"/>
                <a:ea typeface="Quattrocento Sans"/>
                <a:cs typeface="Quattrocento Sans"/>
                <a:sym typeface="Quattrocento Sans"/>
              </a:rPr>
              <a:t>08</a:t>
            </a:r>
          </a:p>
        </p:txBody>
      </p:sp>
    </p:spTree>
  </p:cSld>
  <p:clrMapOvr>
    <a:masterClrMapping/>
  </p:clrMapOvr>
  <mc:AlternateContent xmlns:mc="http://schemas.openxmlformats.org/markup-compatibility/2006" xmlns:p14="http://schemas.microsoft.com/office/powerpoint/2010/main">
    <mc:Choice Requires="p14">
      <p:transition spd="fast" p14:dur="500">
        <p:fade/>
      </p:transition>
    </mc:Choice>
    <mc:Fallback>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9"/>
        </a:solidFill>
        <a:effectLst/>
      </p:bgPr>
    </p:bg>
    <p:spTree>
      <p:nvGrpSpPr>
        <p:cNvPr id="1" name=""/>
        <p:cNvGrpSpPr/>
        <p:nvPr/>
      </p:nvGrpSpPr>
      <p:grpSpPr/>
      <p:sp>
        <p:nvSpPr>
          <p:cNvPr id="2" name="Section label"/>
          <p:cNvSpPr txBox="1"/>
          <p:nvPr/>
        </p:nvSpPr>
        <p:spPr>
          <a:xfrm>
            <a:off x="566928" y="356616"/>
            <a:ext cx="8001000" cy="2103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100" b="1">
                <a:solidFill>
                  <a:srgbClr val="006FE8"/>
                </a:solidFill>
                <a:latin typeface="Quattrocento Sans"/>
                <a:ea typeface="Quattrocento Sans"/>
                <a:cs typeface="Quattrocento Sans"/>
                <a:sym typeface="Quattrocento Sans"/>
              </a:rPr>
              <a:t>KEY NUMBERS — ILLUSTRATIVE</a:t>
            </a:r>
          </a:p>
        </p:txBody>
      </p:sp>
      <p:sp>
        <p:nvSpPr>
          <p:cNvPr id="3" name="Headline"/>
          <p:cNvSpPr txBox="1"/>
          <p:nvPr/>
        </p:nvSpPr>
        <p:spPr>
          <a:xfrm>
            <a:off x="539496" y="713232"/>
            <a:ext cx="813816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2600" b="1">
                <a:solidFill>
                  <a:srgbClr val="111820"/>
                </a:solidFill>
                <a:latin typeface="Quattrocento Sans"/>
                <a:ea typeface="Quattrocento Sans"/>
                <a:cs typeface="Quattrocento Sans"/>
                <a:sym typeface="Quattrocento Sans"/>
              </a:rPr>
              <a:t>One shower’s warm-up, scaled to a year</a:t>
            </a:r>
          </a:p>
        </p:txBody>
      </p:sp>
      <p:sp>
        <p:nvSpPr>
          <p:cNvPr id="4" name="Formula"/>
          <p:cNvSpPr txBox="1"/>
          <p:nvPr/>
        </p:nvSpPr>
        <p:spPr>
          <a:xfrm>
            <a:off x="566928" y="1261872"/>
            <a:ext cx="795528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900" b="0">
                <a:solidFill>
                  <a:srgbClr val="111820"/>
                </a:solidFill>
                <a:latin typeface="Quattrocento Sans"/>
                <a:ea typeface="Quattrocento Sans"/>
                <a:cs typeface="Quattrocento Sans"/>
                <a:sym typeface="Quattrocento Sans"/>
              </a:rPr>
              <a:t>8.7 L/min  ×  wait (min)  ×  1 shower/day  ×  365 days</a:t>
            </a:r>
          </a:p>
        </p:txBody>
      </p:sp>
      <p:sp>
        <p:nvSpPr>
          <p:cNvPr id="5" name="Big number low"/>
          <p:cNvSpPr txBox="1"/>
          <p:nvPr/>
        </p:nvSpPr>
        <p:spPr>
          <a:xfrm>
            <a:off x="502920" y="1874520"/>
            <a:ext cx="260604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5400" b="1">
                <a:solidFill>
                  <a:srgbClr val="111820"/>
                </a:solidFill>
                <a:latin typeface="Quattrocento Sans"/>
                <a:ea typeface="Quattrocento Sans"/>
                <a:cs typeface="Quattrocento Sans"/>
                <a:sym typeface="Quattrocento Sans"/>
              </a:rPr>
              <a:t>9,500</a:t>
            </a:r>
          </a:p>
        </p:txBody>
      </p:sp>
      <p:sp>
        <p:nvSpPr>
          <p:cNvPr id="6" name="Unit low"/>
          <p:cNvSpPr txBox="1"/>
          <p:nvPr/>
        </p:nvSpPr>
        <p:spPr>
          <a:xfrm>
            <a:off x="566928" y="2816352"/>
            <a:ext cx="256032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700" b="0">
                <a:solidFill>
                  <a:srgbClr val="111820"/>
                </a:solidFill>
                <a:latin typeface="Quattrocento Sans"/>
                <a:ea typeface="Quattrocento Sans"/>
                <a:cs typeface="Quattrocento Sans"/>
                <a:sym typeface="Quattrocento Sans"/>
              </a:rPr>
              <a:t>litres per year</a:t>
            </a:r>
          </a:p>
        </p:txBody>
      </p:sp>
      <p:sp>
        <p:nvSpPr>
          <p:cNvPr id="7" name="Detail low"/>
          <p:cNvSpPr txBox="1"/>
          <p:nvPr/>
        </p:nvSpPr>
        <p:spPr>
          <a:xfrm>
            <a:off x="566928" y="3200400"/>
            <a:ext cx="256032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200"/>
              </a:spcAft>
              <a:buNone/>
            </a:pPr>
            <a:r>
              <a:rPr lang="en" sz="1400" b="1">
                <a:solidFill>
                  <a:srgbClr val="111820"/>
                </a:solidFill>
                <a:latin typeface="Quattrocento Sans"/>
                <a:ea typeface="Quattrocento Sans"/>
                <a:cs typeface="Quattrocento Sans"/>
                <a:sym typeface="Quattrocento Sans"/>
              </a:rPr>
              <a:t>3 min wait</a:t>
            </a:r>
          </a:p>
          <a:p>
            <a:pPr indent="0" lvl="0" marL="0" marR="0" rtl="0" algn="l">
              <a:spcBef>
                <a:spcPts val="0"/>
              </a:spcBef>
              <a:spcAft>
                <a:spcPts val="200"/>
              </a:spcAft>
              <a:buNone/>
            </a:pPr>
            <a:r>
              <a:rPr lang="en" sz="1200" b="0">
                <a:solidFill>
                  <a:srgbClr val="52606D"/>
                </a:solidFill>
                <a:latin typeface="Quattrocento Sans"/>
                <a:ea typeface="Quattrocento Sans"/>
                <a:cs typeface="Quattrocento Sans"/>
                <a:sym typeface="Quattrocento Sans"/>
              </a:rPr>
              <a:t>low end reported</a:t>
            </a:r>
          </a:p>
          <a:p>
            <a:pPr indent="0" lvl="0" marL="0" marR="0" rtl="0" algn="l">
              <a:spcBef>
                <a:spcPts val="0"/>
              </a:spcBef>
              <a:spcAft>
                <a:spcPts val="0"/>
              </a:spcAft>
              <a:buNone/>
            </a:pPr>
            <a:r>
              <a:rPr lang="en" sz="1200" b="0">
                <a:solidFill>
                  <a:srgbClr val="52606D"/>
                </a:solidFill>
                <a:latin typeface="Quattrocento Sans"/>
                <a:ea typeface="Quattrocento Sans"/>
                <a:cs typeface="Quattrocento Sans"/>
                <a:sym typeface="Quattrocento Sans"/>
              </a:rPr>
              <a:t>26.1 L per shower</a:t>
            </a:r>
          </a:p>
        </p:txBody>
      </p:sp>
      <p:sp>
        <p:nvSpPr>
          <p:cNvPr id="8" name="Big number mid"/>
          <p:cNvSpPr txBox="1"/>
          <p:nvPr/>
        </p:nvSpPr>
        <p:spPr>
          <a:xfrm>
            <a:off x="3200400" y="1874520"/>
            <a:ext cx="260604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5400" b="1">
                <a:solidFill>
                  <a:srgbClr val="006FE8"/>
                </a:solidFill>
                <a:latin typeface="Quattrocento Sans"/>
                <a:ea typeface="Quattrocento Sans"/>
                <a:cs typeface="Quattrocento Sans"/>
                <a:sym typeface="Quattrocento Sans"/>
              </a:rPr>
              <a:t>12,700</a:t>
            </a:r>
          </a:p>
        </p:txBody>
      </p:sp>
      <p:sp>
        <p:nvSpPr>
          <p:cNvPr id="9" name="Unit mid"/>
          <p:cNvSpPr txBox="1"/>
          <p:nvPr/>
        </p:nvSpPr>
        <p:spPr>
          <a:xfrm>
            <a:off x="3264408" y="2816352"/>
            <a:ext cx="256032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700" b="0">
                <a:solidFill>
                  <a:srgbClr val="006FE8"/>
                </a:solidFill>
                <a:latin typeface="Quattrocento Sans"/>
                <a:ea typeface="Quattrocento Sans"/>
                <a:cs typeface="Quattrocento Sans"/>
                <a:sym typeface="Quattrocento Sans"/>
              </a:rPr>
              <a:t>litres per year</a:t>
            </a:r>
          </a:p>
        </p:txBody>
      </p:sp>
      <p:sp>
        <p:nvSpPr>
          <p:cNvPr id="10" name="Detail mid"/>
          <p:cNvSpPr txBox="1"/>
          <p:nvPr/>
        </p:nvSpPr>
        <p:spPr>
          <a:xfrm>
            <a:off x="3264408" y="3200400"/>
            <a:ext cx="256032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200"/>
              </a:spcAft>
              <a:buNone/>
            </a:pPr>
            <a:r>
              <a:rPr lang="en" sz="1400" b="1">
                <a:solidFill>
                  <a:srgbClr val="111820"/>
                </a:solidFill>
                <a:latin typeface="Quattrocento Sans"/>
                <a:ea typeface="Quattrocento Sans"/>
                <a:cs typeface="Quattrocento Sans"/>
                <a:sym typeface="Quattrocento Sans"/>
              </a:rPr>
              <a:t>4 min wait</a:t>
            </a:r>
          </a:p>
          <a:p>
            <a:pPr indent="0" lvl="0" marL="0" marR="0" rtl="0" algn="l">
              <a:spcBef>
                <a:spcPts val="0"/>
              </a:spcBef>
              <a:spcAft>
                <a:spcPts val="200"/>
              </a:spcAft>
              <a:buNone/>
            </a:pPr>
            <a:r>
              <a:rPr lang="en" sz="1200" b="0">
                <a:solidFill>
                  <a:srgbClr val="52606D"/>
                </a:solidFill>
                <a:latin typeface="Quattrocento Sans"/>
                <a:ea typeface="Quattrocento Sans"/>
                <a:cs typeface="Quattrocento Sans"/>
                <a:sym typeface="Quattrocento Sans"/>
              </a:rPr>
              <a:t>midpoint of 3–5 min</a:t>
            </a:r>
          </a:p>
          <a:p>
            <a:pPr indent="0" lvl="0" marL="0" marR="0" rtl="0" algn="l">
              <a:spcBef>
                <a:spcPts val="0"/>
              </a:spcBef>
              <a:spcAft>
                <a:spcPts val="0"/>
              </a:spcAft>
              <a:buNone/>
            </a:pPr>
            <a:r>
              <a:rPr lang="en" sz="1200" b="0">
                <a:solidFill>
                  <a:srgbClr val="52606D"/>
                </a:solidFill>
                <a:latin typeface="Quattrocento Sans"/>
                <a:ea typeface="Quattrocento Sans"/>
                <a:cs typeface="Quattrocento Sans"/>
                <a:sym typeface="Quattrocento Sans"/>
              </a:rPr>
              <a:t>34.8 L per shower</a:t>
            </a:r>
          </a:p>
        </p:txBody>
      </p:sp>
      <p:sp>
        <p:nvSpPr>
          <p:cNvPr id="11" name="Big number high"/>
          <p:cNvSpPr txBox="1"/>
          <p:nvPr/>
        </p:nvSpPr>
        <p:spPr>
          <a:xfrm>
            <a:off x="5897880" y="1874520"/>
            <a:ext cx="260604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5400" b="1">
                <a:solidFill>
                  <a:srgbClr val="111820"/>
                </a:solidFill>
                <a:latin typeface="Quattrocento Sans"/>
                <a:ea typeface="Quattrocento Sans"/>
                <a:cs typeface="Quattrocento Sans"/>
                <a:sym typeface="Quattrocento Sans"/>
              </a:rPr>
              <a:t>15,900</a:t>
            </a:r>
          </a:p>
        </p:txBody>
      </p:sp>
      <p:sp>
        <p:nvSpPr>
          <p:cNvPr id="12" name="Unit high"/>
          <p:cNvSpPr txBox="1"/>
          <p:nvPr/>
        </p:nvSpPr>
        <p:spPr>
          <a:xfrm>
            <a:off x="5961888" y="2816352"/>
            <a:ext cx="256032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700" b="0">
                <a:solidFill>
                  <a:srgbClr val="111820"/>
                </a:solidFill>
                <a:latin typeface="Quattrocento Sans"/>
                <a:ea typeface="Quattrocento Sans"/>
                <a:cs typeface="Quattrocento Sans"/>
                <a:sym typeface="Quattrocento Sans"/>
              </a:rPr>
              <a:t>litres per year</a:t>
            </a:r>
          </a:p>
        </p:txBody>
      </p:sp>
      <p:sp>
        <p:nvSpPr>
          <p:cNvPr id="13" name="Detail high"/>
          <p:cNvSpPr txBox="1"/>
          <p:nvPr/>
        </p:nvSpPr>
        <p:spPr>
          <a:xfrm>
            <a:off x="5961888" y="3200400"/>
            <a:ext cx="256032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200"/>
              </a:spcAft>
              <a:buNone/>
            </a:pPr>
            <a:r>
              <a:rPr lang="en" sz="1400" b="1">
                <a:solidFill>
                  <a:srgbClr val="111820"/>
                </a:solidFill>
                <a:latin typeface="Quattrocento Sans"/>
                <a:ea typeface="Quattrocento Sans"/>
                <a:cs typeface="Quattrocento Sans"/>
                <a:sym typeface="Quattrocento Sans"/>
              </a:rPr>
              <a:t>5 min wait</a:t>
            </a:r>
          </a:p>
          <a:p>
            <a:pPr indent="0" lvl="0" marL="0" marR="0" rtl="0" algn="l">
              <a:spcBef>
                <a:spcPts val="0"/>
              </a:spcBef>
              <a:spcAft>
                <a:spcPts val="200"/>
              </a:spcAft>
              <a:buNone/>
            </a:pPr>
            <a:r>
              <a:rPr lang="en" sz="1200" b="0">
                <a:solidFill>
                  <a:srgbClr val="52606D"/>
                </a:solidFill>
                <a:latin typeface="Quattrocento Sans"/>
                <a:ea typeface="Quattrocento Sans"/>
                <a:cs typeface="Quattrocento Sans"/>
                <a:sym typeface="Quattrocento Sans"/>
              </a:rPr>
              <a:t>high end reported</a:t>
            </a:r>
          </a:p>
          <a:p>
            <a:pPr indent="0" lvl="0" marL="0" marR="0" rtl="0" algn="l">
              <a:spcBef>
                <a:spcPts val="0"/>
              </a:spcBef>
              <a:spcAft>
                <a:spcPts val="0"/>
              </a:spcAft>
              <a:buNone/>
            </a:pPr>
            <a:r>
              <a:rPr lang="en" sz="1200" b="0">
                <a:solidFill>
                  <a:srgbClr val="52606D"/>
                </a:solidFill>
                <a:latin typeface="Quattrocento Sans"/>
                <a:ea typeface="Quattrocento Sans"/>
                <a:cs typeface="Quattrocento Sans"/>
                <a:sym typeface="Quattrocento Sans"/>
              </a:rPr>
              <a:t>43.5 L per shower</a:t>
            </a:r>
          </a:p>
        </p:txBody>
      </p:sp>
      <p:sp>
        <p:nvSpPr>
          <p:cNvPr id="14" name="Comparison"/>
          <p:cNvSpPr txBox="1"/>
          <p:nvPr/>
        </p:nvSpPr>
        <p:spPr>
          <a:xfrm>
            <a:off x="566928" y="4114800"/>
            <a:ext cx="795528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200" b="0">
                <a:solidFill>
                  <a:srgbClr val="52606D"/>
                </a:solidFill>
                <a:latin typeface="Quattrocento Sans"/>
                <a:ea typeface="Quattrocento Sans"/>
                <a:cs typeface="Quattrocento Sans"/>
                <a:sym typeface="Quattrocento Sans"/>
              </a:rPr>
              <a:t xml:space="preserve">For comparison, the 30-second wait we first assumed would be about </a:t>
            </a:r>
            <a:r>
              <a:rPr lang="en" sz="1200" b="1">
                <a:solidFill>
                  <a:srgbClr val="52606D"/>
                </a:solidFill>
                <a:latin typeface="Quattrocento Sans"/>
                <a:ea typeface="Quattrocento Sans"/>
                <a:cs typeface="Quattrocento Sans"/>
                <a:sym typeface="Quattrocento Sans"/>
              </a:rPr>
              <a:t>1,588 L per year</a:t>
            </a:r>
            <a:r>
              <a:rPr lang="en" sz="1200" b="0">
                <a:solidFill>
                  <a:srgbClr val="52606D"/>
                </a:solidFill>
                <a:latin typeface="Quattrocento Sans"/>
                <a:ea typeface="Quattrocento Sans"/>
                <a:cs typeface="Quattrocento Sans"/>
                <a:sym typeface="Quattrocento Sans"/>
              </a:rPr>
              <a:t>.</a:t>
            </a:r>
          </a:p>
        </p:txBody>
      </p:sp>
      <p:sp>
        <p:nvSpPr>
          <p:cNvPr id="15" name="Footer caveat"/>
          <p:cNvSpPr txBox="1"/>
          <p:nvPr/>
        </p:nvSpPr>
        <p:spPr>
          <a:xfrm>
            <a:off x="566928" y="4791456"/>
            <a:ext cx="7644384"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000" b="0">
                <a:solidFill>
                  <a:srgbClr val="52606D"/>
                </a:solidFill>
                <a:latin typeface="Quattrocento Sans"/>
                <a:ea typeface="Quattrocento Sans"/>
                <a:cs typeface="Quattrocento Sans"/>
                <a:sym typeface="Quattrocento Sans"/>
              </a:rPr>
              <a:t>Illustrative. Flow: RSB 2015 audit (via ADDC/Tarsheed 2017). Wait times: interviews 1–2. One shower/day assumed. Winter not measured.</a:t>
            </a:r>
          </a:p>
        </p:txBody>
      </p:sp>
      <p:sp>
        <p:nvSpPr>
          <p:cNvPr id="16" name="Slide number"/>
          <p:cNvSpPr txBox="1"/>
          <p:nvPr/>
        </p:nvSpPr>
        <p:spPr>
          <a:xfrm>
            <a:off x="8357616" y="4791456"/>
            <a:ext cx="356616"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000" b="0">
                <a:solidFill>
                  <a:srgbClr val="52606D"/>
                </a:solidFill>
                <a:latin typeface="Quattrocento Sans"/>
                <a:ea typeface="Quattrocento Sans"/>
                <a:cs typeface="Quattrocento Sans"/>
                <a:sym typeface="Quattrocento Sans"/>
              </a:rPr>
              <a:t>09</a:t>
            </a:r>
          </a:p>
        </p:txBody>
      </p:sp>
    </p:spTree>
  </p:cSld>
  <p:clrMapOvr>
    <a:masterClrMapping/>
  </p:clrMapOvr>
  <mc:AlternateContent xmlns:mc="http://schemas.openxmlformats.org/markup-compatibility/2006" xmlns:p14="http://schemas.microsoft.com/office/powerpoint/2010/main">
    <mc:Choice Requires="p14">
      <p:transition spd="fast" p14:dur="500">
        <p:fade/>
      </p:transition>
    </mc:Choice>
    <mc:Fallback>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par>
                                <p:cTn id="21" presetID="10"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anim calcmode="lin" valueType="num">
                                      <p:cBhvr additive="base">
                                        <p:cTn id="32" dur="500" fill="hold"/>
                                        <p:tgtEl>
                                          <p:spTgt spid="8"/>
                                        </p:tgtEl>
                                        <p:attrNameLst>
                                          <p:attrName>ppt_x</p:attrName>
                                        </p:attrNameLst>
                                      </p:cBhvr>
                                      <p:tavLst>
                                        <p:tav tm="0">
                                          <p:val>
                                            <p:strVal val="#ppt_x"/>
                                          </p:val>
                                        </p:tav>
                                        <p:tav tm="100000">
                                          <p:val>
                                            <p:strVal val="#ppt_x"/>
                                          </p:val>
                                        </p:tav>
                                      </p:tavLst>
                                    </p:anim>
                                    <p:anim calcmode="lin" valueType="num">
                                      <p:cBhvr additive="base">
                                        <p:cTn id="33" dur="500" fill="hold"/>
                                        <p:tgtEl>
                                          <p:spTgt spid="8"/>
                                        </p:tgtEl>
                                        <p:attrNameLst>
                                          <p:attrName>ppt_y</p:attrName>
                                        </p:attrNameLst>
                                      </p:cBhvr>
                                      <p:tavLst>
                                        <p:tav tm="0">
                                          <p:val>
                                            <p:strVal val="1+#ppt_h/2"/>
                                          </p:val>
                                        </p:tav>
                                        <p:tav tm="100000">
                                          <p:val>
                                            <p:strVal val="#ppt_y"/>
                                          </p:val>
                                        </p:tav>
                                      </p:tavLst>
                                    </p:anim>
                                  </p:childTnLst>
                                </p:cTn>
                              </p:par>
                              <p:par>
                                <p:cTn id="34" presetID="10"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anim calcmode="lin" valueType="num">
                                      <p:cBhvr additive="base">
                                        <p:cTn id="45" dur="500" fill="hold"/>
                                        <p:tgtEl>
                                          <p:spTgt spid="11"/>
                                        </p:tgtEl>
                                        <p:attrNameLst>
                                          <p:attrName>ppt_x</p:attrName>
                                        </p:attrNameLst>
                                      </p:cBhvr>
                                      <p:tavLst>
                                        <p:tav tm="0">
                                          <p:val>
                                            <p:strVal val="#ppt_x"/>
                                          </p:val>
                                        </p:tav>
                                        <p:tav tm="100000">
                                          <p:val>
                                            <p:strVal val="#ppt_x"/>
                                          </p:val>
                                        </p:tav>
                                      </p:tavLst>
                                    </p:anim>
                                    <p:anim calcmode="lin" valueType="num">
                                      <p:cBhvr additive="base">
                                        <p:cTn id="46" dur="500" fill="hold"/>
                                        <p:tgtEl>
                                          <p:spTgt spid="11"/>
                                        </p:tgtEl>
                                        <p:attrNameLst>
                                          <p:attrName>ppt_y</p:attrName>
                                        </p:attrNameLst>
                                      </p:cBhvr>
                                      <p:tavLst>
                                        <p:tav tm="0">
                                          <p:val>
                                            <p:strVal val="1+#ppt_h/2"/>
                                          </p:val>
                                        </p:tav>
                                        <p:tav tm="100000">
                                          <p:val>
                                            <p:strVal val="#ppt_y"/>
                                          </p:val>
                                        </p:tav>
                                      </p:tavLst>
                                    </p:anim>
                                  </p:childTnLst>
                                </p:cTn>
                              </p:par>
                              <p:par>
                                <p:cTn id="47" presetID="10"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500"/>
                                        <p:tgtEl>
                                          <p:spTgt spid="1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9"/>
        </a:solidFill>
        <a:effectLst/>
      </p:bgPr>
    </p:bg>
    <p:spTree>
      <p:nvGrpSpPr>
        <p:cNvPr id="1" name=""/>
        <p:cNvGrpSpPr/>
        <p:nvPr/>
      </p:nvGrpSpPr>
      <p:grpSpPr/>
      <p:sp>
        <p:nvSpPr>
          <p:cNvPr id="2" name="Section label"/>
          <p:cNvSpPr txBox="1"/>
          <p:nvPr/>
        </p:nvSpPr>
        <p:spPr>
          <a:xfrm>
            <a:off x="566928" y="356616"/>
            <a:ext cx="8001000" cy="2103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100" b="1">
                <a:solidFill>
                  <a:srgbClr val="006FE8"/>
                </a:solidFill>
                <a:latin typeface="Quattrocento Sans"/>
                <a:ea typeface="Quattrocento Sans"/>
                <a:cs typeface="Quattrocento Sans"/>
                <a:sym typeface="Quattrocento Sans"/>
              </a:rPr>
              <a:t>POINT OF VIEW</a:t>
            </a:r>
          </a:p>
        </p:txBody>
      </p:sp>
      <p:sp>
        <p:nvSpPr>
          <p:cNvPr id="3" name="POV statement"/>
          <p:cNvSpPr txBox="1"/>
          <p:nvPr/>
        </p:nvSpPr>
        <p:spPr>
          <a:xfrm>
            <a:off x="539496" y="777240"/>
            <a:ext cx="8138160" cy="20574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None/>
            </a:pPr>
            <a:r>
              <a:rPr lang="en" sz="2200" b="1">
                <a:solidFill>
                  <a:srgbClr val="111820"/>
                </a:solidFill>
                <a:latin typeface="Quattrocento Sans"/>
                <a:ea typeface="Quattrocento Sans"/>
                <a:cs typeface="Quattrocento Sans"/>
                <a:sym typeface="Quattrocento Sans"/>
              </a:rPr>
              <a:t>Adults in UAE homes who shower with warm water</a:t>
            </a:r>
            <a:r>
              <a:rPr lang="en" sz="2200" b="1">
                <a:solidFill>
                  <a:srgbClr val="006FE8"/>
                </a:solidFill>
                <a:latin typeface="Quattrocento Sans"/>
                <a:ea typeface="Quattrocento Sans"/>
                <a:cs typeface="Quattrocento Sans"/>
                <a:sym typeface="Quattrocento Sans"/>
              </a:rPr>
              <a:t xml:space="preserve"> need a way to </a:t>
            </a:r>
            <a:r>
              <a:rPr lang="en" sz="2200" b="1">
                <a:solidFill>
                  <a:srgbClr val="111820"/>
                </a:solidFill>
                <a:latin typeface="Quattrocento Sans"/>
                <a:ea typeface="Quattrocento Sans"/>
                <a:cs typeface="Quattrocento Sans"/>
                <a:sym typeface="Quattrocento Sans"/>
              </a:rPr>
              <a:t>stop the 3–5 minute warm-up from sending clean water down the drain</a:t>
            </a:r>
            <a:r>
              <a:rPr lang="en" sz="2200" b="1">
                <a:solidFill>
                  <a:srgbClr val="006FE8"/>
                </a:solidFill>
                <a:latin typeface="Quattrocento Sans"/>
                <a:ea typeface="Quattrocento Sans"/>
                <a:cs typeface="Quattrocento Sans"/>
                <a:sym typeface="Quattrocento Sans"/>
              </a:rPr>
              <a:t xml:space="preserve"> because </a:t>
            </a:r>
            <a:r>
              <a:rPr lang="en" sz="2200" b="1">
                <a:solidFill>
                  <a:srgbClr val="111820"/>
                </a:solidFill>
                <a:latin typeface="Quattrocento Sans"/>
                <a:ea typeface="Quattrocento Sans"/>
                <a:cs typeface="Quattrocento Sans"/>
                <a:sym typeface="Quattrocento Sans"/>
              </a:rPr>
              <a:t>the wait is passive time — they step out or wait it out — and nobody sees how much is lost.</a:t>
            </a:r>
          </a:p>
        </p:txBody>
      </p:sp>
      <p:sp>
        <p:nvSpPr>
          <p:cNvPr id="4" name="Icon circle 1"/>
          <p:cNvSpPr/>
          <p:nvPr/>
        </p:nvSpPr>
        <p:spPr>
          <a:xfrm>
            <a:off x="1115568" y="3154680"/>
            <a:ext cx="658368" cy="658368"/>
          </a:xfrm>
          <a:prstGeom prst="ellipse">
            <a:avLst/>
          </a:prstGeom>
          <a:solidFill>
            <a:srgbClr val="FFFFFF"/>
          </a:solidFill>
          <a:ln w="7150" cap="rnd">
            <a:solidFill>
              <a:srgbClr val="D7DFE5"/>
            </a:solidFill>
            <a:round/>
          </a:ln>
        </p:spPr>
        <p:txBody>
          <a:bodyPr anchor="ctr" lIns="0" rIns="0" tIns="0" bIns="0">
            <a:noAutofit/>
          </a:bodyPr>
          <a:lstStyle/>
          <a:p>
            <a:pPr indent="0" lvl="0" marL="0" marR="0" rtl="0" algn="l">
              <a:spcBef>
                <a:spcPts val="0"/>
              </a:spcBef>
              <a:spcAft>
                <a:spcPts val="0"/>
              </a:spcAft>
              <a:buNone/>
            </a:pPr>
          </a:p>
        </p:txBody>
      </p:sp>
      <p:sp>
        <p:nvSpPr>
          <p:cNvPr id="5" name="Icon power arc"/>
          <p:cNvSpPr/>
          <p:nvPr/>
        </p:nvSpPr>
        <p:spPr>
          <a:xfrm>
            <a:off x="1261872" y="3300984"/>
            <a:ext cx="365760" cy="365760"/>
          </a:xfrm>
          <a:prstGeom prst="blockArc">
            <a:avLst>
              <a:gd name="adj1" fmla="val 18000000"/>
              <a:gd name="adj2" fmla="val 14400000"/>
              <a:gd name="adj3" fmla="val 14000"/>
            </a:avLst>
          </a:prstGeom>
          <a:solidFill>
            <a:srgbClr val="006FE8"/>
          </a:solidFill>
          <a:ln>
            <a:noFill/>
          </a:ln>
        </p:spPr>
        <p:txBody>
          <a:bodyPr anchor="ctr" lIns="0" rIns="0" tIns="0" bIns="0">
            <a:noAutofit/>
          </a:bodyPr>
          <a:lstStyle/>
          <a:p>
            <a:pPr indent="0" lvl="0" marL="0" marR="0" rtl="0" algn="l">
              <a:spcBef>
                <a:spcPts val="0"/>
              </a:spcBef>
              <a:spcAft>
                <a:spcPts val="0"/>
              </a:spcAft>
              <a:buNone/>
            </a:pPr>
          </a:p>
        </p:txBody>
      </p:sp>
      <p:sp>
        <p:nvSpPr>
          <p:cNvPr id="6" name="Icon power bar"/>
          <p:cNvSpPr/>
          <p:nvPr/>
        </p:nvSpPr>
        <p:spPr>
          <a:xfrm>
            <a:off x="1417320" y="3264408"/>
            <a:ext cx="54864" cy="219456"/>
          </a:xfrm>
          <a:prstGeom prst="roundRect">
            <a:avLst/>
          </a:prstGeom>
          <a:solidFill>
            <a:srgbClr val="006FE8"/>
          </a:solidFill>
          <a:ln>
            <a:noFill/>
          </a:ln>
        </p:spPr>
        <p:txBody>
          <a:bodyPr anchor="ctr" lIns="0" rIns="0" tIns="0" bIns="0">
            <a:noAutofit/>
          </a:bodyPr>
          <a:lstStyle/>
          <a:p>
            <a:pPr indent="0" lvl="0" marL="0" marR="0" rtl="0" algn="l">
              <a:spcBef>
                <a:spcPts val="0"/>
              </a:spcBef>
              <a:spcAft>
                <a:spcPts val="0"/>
              </a:spcAft>
              <a:buNone/>
            </a:pPr>
          </a:p>
        </p:txBody>
      </p:sp>
      <p:sp>
        <p:nvSpPr>
          <p:cNvPr id="7" name="Step caption 1"/>
          <p:cNvSpPr txBox="1"/>
          <p:nvPr/>
        </p:nvSpPr>
        <p:spPr>
          <a:xfrm>
            <a:off x="530352" y="3904488"/>
            <a:ext cx="182880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200" b="0">
                <a:solidFill>
                  <a:srgbClr val="52606D"/>
                </a:solidFill>
                <a:latin typeface="Quattrocento Sans"/>
                <a:ea typeface="Quattrocento Sans"/>
                <a:cs typeface="Quattrocento Sans"/>
                <a:sym typeface="Quattrocento Sans"/>
              </a:rPr>
              <a:t>Turn on the shower</a:t>
            </a:r>
          </a:p>
        </p:txBody>
      </p:sp>
      <p:sp>
        <p:nvSpPr>
          <p:cNvPr id="8" name="Step arrow 1"/>
          <p:cNvSpPr/>
          <p:nvPr/>
        </p:nvSpPr>
        <p:spPr>
          <a:xfrm>
            <a:off x="2418588" y="3374136"/>
            <a:ext cx="146304" cy="219456"/>
          </a:xfrm>
          <a:prstGeom prst="chevron">
            <a:avLst/>
          </a:prstGeom>
          <a:solidFill>
            <a:srgbClr val="B5C1CC"/>
          </a:solidFill>
          <a:ln>
            <a:noFill/>
          </a:ln>
        </p:spPr>
        <p:txBody>
          <a:bodyPr anchor="ctr" lIns="0" rIns="0" tIns="0" bIns="0">
            <a:noAutofit/>
          </a:bodyPr>
          <a:lstStyle/>
          <a:p>
            <a:pPr indent="0" lvl="0" marL="0" marR="0" rtl="0" algn="l">
              <a:spcBef>
                <a:spcPts val="0"/>
              </a:spcBef>
              <a:spcAft>
                <a:spcPts val="0"/>
              </a:spcAft>
              <a:buNone/>
            </a:pPr>
          </a:p>
        </p:txBody>
      </p:sp>
      <p:sp>
        <p:nvSpPr>
          <p:cNvPr id="9" name="Icon circle 2"/>
          <p:cNvSpPr/>
          <p:nvPr/>
        </p:nvSpPr>
        <p:spPr>
          <a:xfrm>
            <a:off x="3209544" y="3154680"/>
            <a:ext cx="658368" cy="658368"/>
          </a:xfrm>
          <a:prstGeom prst="ellipse">
            <a:avLst/>
          </a:prstGeom>
          <a:solidFill>
            <a:srgbClr val="FFFFFF"/>
          </a:solidFill>
          <a:ln w="7150" cap="rnd">
            <a:solidFill>
              <a:srgbClr val="D7DFE5"/>
            </a:solidFill>
            <a:round/>
          </a:ln>
        </p:spPr>
        <p:txBody>
          <a:bodyPr anchor="ctr" lIns="0" rIns="0" tIns="0" bIns="0">
            <a:noAutofit/>
          </a:bodyPr>
          <a:lstStyle/>
          <a:p>
            <a:pPr indent="0" lvl="0" marL="0" marR="0" rtl="0" algn="l">
              <a:spcBef>
                <a:spcPts val="0"/>
              </a:spcBef>
              <a:spcAft>
                <a:spcPts val="0"/>
              </a:spcAft>
              <a:buNone/>
            </a:pPr>
          </a:p>
        </p:txBody>
      </p:sp>
      <p:sp>
        <p:nvSpPr>
          <p:cNvPr id="10" name="Icon drop"/>
          <p:cNvSpPr/>
          <p:nvPr/>
        </p:nvSpPr>
        <p:spPr>
          <a:xfrm rot="18900000">
            <a:off x="3392424" y="3319272"/>
            <a:ext cx="292608" cy="292608"/>
          </a:xfrm>
          <a:prstGeom prst="teardrop">
            <a:avLst/>
          </a:prstGeom>
          <a:solidFill>
            <a:srgbClr val="006FE8"/>
          </a:solidFill>
          <a:ln>
            <a:noFill/>
          </a:ln>
        </p:spPr>
        <p:txBody>
          <a:bodyPr anchor="ctr" lIns="0" rIns="0" tIns="0" bIns="0">
            <a:noAutofit/>
          </a:bodyPr>
          <a:lstStyle/>
          <a:p>
            <a:pPr indent="0" lvl="0" marL="0" marR="0" rtl="0" algn="l">
              <a:spcBef>
                <a:spcPts val="0"/>
              </a:spcBef>
              <a:spcAft>
                <a:spcPts val="0"/>
              </a:spcAft>
              <a:buNone/>
            </a:pPr>
          </a:p>
        </p:txBody>
      </p:sp>
      <p:sp>
        <p:nvSpPr>
          <p:cNvPr id="11" name="Step caption 2"/>
          <p:cNvSpPr txBox="1"/>
          <p:nvPr/>
        </p:nvSpPr>
        <p:spPr>
          <a:xfrm>
            <a:off x="2624328" y="3904488"/>
            <a:ext cx="182880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200" b="0">
                <a:solidFill>
                  <a:srgbClr val="52606D"/>
                </a:solidFill>
                <a:latin typeface="Quattrocento Sans"/>
                <a:ea typeface="Quattrocento Sans"/>
                <a:cs typeface="Quattrocento Sans"/>
                <a:sym typeface="Quattrocento Sans"/>
              </a:rPr>
              <a:t>Cold water to the drain</a:t>
            </a:r>
          </a:p>
        </p:txBody>
      </p:sp>
      <p:sp>
        <p:nvSpPr>
          <p:cNvPr id="12" name="Step arrow 2"/>
          <p:cNvSpPr/>
          <p:nvPr/>
        </p:nvSpPr>
        <p:spPr>
          <a:xfrm>
            <a:off x="4512564" y="3374136"/>
            <a:ext cx="146304" cy="219456"/>
          </a:xfrm>
          <a:prstGeom prst="chevron">
            <a:avLst/>
          </a:prstGeom>
          <a:solidFill>
            <a:srgbClr val="B5C1CC"/>
          </a:solidFill>
          <a:ln>
            <a:noFill/>
          </a:ln>
        </p:spPr>
        <p:txBody>
          <a:bodyPr anchor="ctr" lIns="0" rIns="0" tIns="0" bIns="0">
            <a:noAutofit/>
          </a:bodyPr>
          <a:lstStyle/>
          <a:p>
            <a:pPr indent="0" lvl="0" marL="0" marR="0" rtl="0" algn="l">
              <a:spcBef>
                <a:spcPts val="0"/>
              </a:spcBef>
              <a:spcAft>
                <a:spcPts val="0"/>
              </a:spcAft>
              <a:buNone/>
            </a:pPr>
          </a:p>
        </p:txBody>
      </p:sp>
      <p:sp>
        <p:nvSpPr>
          <p:cNvPr id="13" name="Icon circle 3"/>
          <p:cNvSpPr/>
          <p:nvPr/>
        </p:nvSpPr>
        <p:spPr>
          <a:xfrm>
            <a:off x="5303520" y="3154680"/>
            <a:ext cx="658368" cy="658368"/>
          </a:xfrm>
          <a:prstGeom prst="ellipse">
            <a:avLst/>
          </a:prstGeom>
          <a:solidFill>
            <a:srgbClr val="FFFFFF"/>
          </a:solidFill>
          <a:ln w="7150" cap="rnd">
            <a:solidFill>
              <a:srgbClr val="D7DFE5"/>
            </a:solidFill>
            <a:round/>
          </a:ln>
        </p:spPr>
        <p:txBody>
          <a:bodyPr anchor="ctr" lIns="0" rIns="0" tIns="0" bIns="0">
            <a:noAutofit/>
          </a:bodyPr>
          <a:lstStyle/>
          <a:p>
            <a:pPr indent="0" lvl="0" marL="0" marR="0" rtl="0" algn="l">
              <a:spcBef>
                <a:spcPts val="0"/>
              </a:spcBef>
              <a:spcAft>
                <a:spcPts val="0"/>
              </a:spcAft>
              <a:buNone/>
            </a:pPr>
          </a:p>
        </p:txBody>
      </p:sp>
      <p:sp>
        <p:nvSpPr>
          <p:cNvPr id="14" name="Icon clock face"/>
          <p:cNvSpPr/>
          <p:nvPr/>
        </p:nvSpPr>
        <p:spPr>
          <a:xfrm>
            <a:off x="5449824" y="3300984"/>
            <a:ext cx="365760" cy="365760"/>
          </a:xfrm>
          <a:prstGeom prst="ellipse">
            <a:avLst/>
          </a:prstGeom>
          <a:noFill/>
          <a:ln w="22225" cap="rnd">
            <a:solidFill>
              <a:srgbClr val="006FE8"/>
            </a:solidFill>
            <a:round/>
          </a:ln>
        </p:spPr>
        <p:txBody>
          <a:bodyPr anchor="ctr" lIns="0" rIns="0" tIns="0" bIns="0">
            <a:noAutofit/>
          </a:bodyPr>
          <a:lstStyle/>
          <a:p>
            <a:pPr indent="0" lvl="0" marL="0" marR="0" rtl="0" algn="l">
              <a:spcBef>
                <a:spcPts val="0"/>
              </a:spcBef>
              <a:spcAft>
                <a:spcPts val="0"/>
              </a:spcAft>
              <a:buNone/>
            </a:pPr>
          </a:p>
        </p:txBody>
      </p:sp>
      <p:cxnSp>
        <p:nvCxnSpPr>
          <p:cNvPr id="15" name="Icon clock hand 1"/>
          <p:cNvCxnSpPr/>
          <p:nvPr/>
        </p:nvCxnSpPr>
        <p:spPr>
          <a:xfrm flipV="1">
            <a:off x="5632704" y="3364992"/>
            <a:ext cx="0" cy="118872"/>
          </a:xfrm>
          <a:prstGeom prst="straightConnector1">
            <a:avLst/>
          </a:prstGeom>
          <a:ln w="22225" cap="rnd">
            <a:solidFill>
              <a:srgbClr val="006FE8"/>
            </a:solidFill>
            <a:round/>
          </a:ln>
        </p:spPr>
      </p:cxnSp>
      <p:cxnSp>
        <p:nvCxnSpPr>
          <p:cNvPr id="16" name="Icon clock hand 2"/>
          <p:cNvCxnSpPr/>
          <p:nvPr/>
        </p:nvCxnSpPr>
        <p:spPr>
          <a:xfrm>
            <a:off x="5632704" y="3483864"/>
            <a:ext cx="100584" cy="0"/>
          </a:xfrm>
          <a:prstGeom prst="straightConnector1">
            <a:avLst/>
          </a:prstGeom>
          <a:ln w="22225" cap="rnd">
            <a:solidFill>
              <a:srgbClr val="006FE8"/>
            </a:solidFill>
            <a:round/>
          </a:ln>
        </p:spPr>
      </p:cxnSp>
      <p:sp>
        <p:nvSpPr>
          <p:cNvPr id="17" name="Step caption 3"/>
          <p:cNvSpPr txBox="1"/>
          <p:nvPr/>
        </p:nvSpPr>
        <p:spPr>
          <a:xfrm>
            <a:off x="4718304" y="3904488"/>
            <a:ext cx="182880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200" b="0">
                <a:solidFill>
                  <a:srgbClr val="52606D"/>
                </a:solidFill>
                <a:latin typeface="Quattrocento Sans"/>
                <a:ea typeface="Quattrocento Sans"/>
                <a:cs typeface="Quattrocento Sans"/>
                <a:sym typeface="Quattrocento Sans"/>
              </a:rPr>
              <a:t>Wait 3–5 minutes</a:t>
            </a:r>
          </a:p>
        </p:txBody>
      </p:sp>
      <p:sp>
        <p:nvSpPr>
          <p:cNvPr id="18" name="Step arrow 3"/>
          <p:cNvSpPr/>
          <p:nvPr/>
        </p:nvSpPr>
        <p:spPr>
          <a:xfrm>
            <a:off x="6606540" y="3374136"/>
            <a:ext cx="146304" cy="219456"/>
          </a:xfrm>
          <a:prstGeom prst="chevron">
            <a:avLst/>
          </a:prstGeom>
          <a:solidFill>
            <a:srgbClr val="B5C1CC"/>
          </a:solidFill>
          <a:ln>
            <a:noFill/>
          </a:ln>
        </p:spPr>
        <p:txBody>
          <a:bodyPr anchor="ctr" lIns="0" rIns="0" tIns="0" bIns="0">
            <a:noAutofit/>
          </a:bodyPr>
          <a:lstStyle/>
          <a:p>
            <a:pPr indent="0" lvl="0" marL="0" marR="0" rtl="0" algn="l">
              <a:spcBef>
                <a:spcPts val="0"/>
              </a:spcBef>
              <a:spcAft>
                <a:spcPts val="0"/>
              </a:spcAft>
              <a:buNone/>
            </a:pPr>
          </a:p>
        </p:txBody>
      </p:sp>
      <p:sp>
        <p:nvSpPr>
          <p:cNvPr id="19" name="Icon circle 4"/>
          <p:cNvSpPr/>
          <p:nvPr/>
        </p:nvSpPr>
        <p:spPr>
          <a:xfrm>
            <a:off x="7397496" y="3154680"/>
            <a:ext cx="658368" cy="658368"/>
          </a:xfrm>
          <a:prstGeom prst="ellipse">
            <a:avLst/>
          </a:prstGeom>
          <a:solidFill>
            <a:srgbClr val="FFFFFF"/>
          </a:solidFill>
          <a:ln w="7150" cap="rnd">
            <a:solidFill>
              <a:srgbClr val="D7DFE5"/>
            </a:solidFill>
            <a:round/>
          </a:ln>
        </p:spPr>
        <p:txBody>
          <a:bodyPr anchor="ctr" lIns="0" rIns="0" tIns="0" bIns="0">
            <a:noAutofit/>
          </a:bodyPr>
          <a:lstStyle/>
          <a:p>
            <a:pPr indent="0" lvl="0" marL="0" marR="0" rtl="0" algn="l">
              <a:spcBef>
                <a:spcPts val="0"/>
              </a:spcBef>
              <a:spcAft>
                <a:spcPts val="0"/>
              </a:spcAft>
              <a:buNone/>
            </a:pPr>
          </a:p>
        </p:txBody>
      </p:sp>
      <p:sp>
        <p:nvSpPr>
          <p:cNvPr id="20" name="Icon shower stem"/>
          <p:cNvSpPr/>
          <p:nvPr/>
        </p:nvSpPr>
        <p:spPr>
          <a:xfrm>
            <a:off x="7699248" y="3264408"/>
            <a:ext cx="54864" cy="128016"/>
          </a:xfrm>
          <a:prstGeom prst="roundRect">
            <a:avLst/>
          </a:prstGeom>
          <a:solidFill>
            <a:srgbClr val="006FE8"/>
          </a:solidFill>
          <a:ln>
            <a:noFill/>
          </a:ln>
        </p:spPr>
        <p:txBody>
          <a:bodyPr anchor="ctr" lIns="0" rIns="0" tIns="0" bIns="0">
            <a:noAutofit/>
          </a:bodyPr>
          <a:lstStyle/>
          <a:p>
            <a:pPr indent="0" lvl="0" marL="0" marR="0" rtl="0" algn="l">
              <a:spcBef>
                <a:spcPts val="0"/>
              </a:spcBef>
              <a:spcAft>
                <a:spcPts val="0"/>
              </a:spcAft>
              <a:buNone/>
            </a:pPr>
          </a:p>
        </p:txBody>
      </p:sp>
      <p:sp>
        <p:nvSpPr>
          <p:cNvPr id="21" name="Icon shower head"/>
          <p:cNvSpPr/>
          <p:nvPr/>
        </p:nvSpPr>
        <p:spPr>
          <a:xfrm>
            <a:off x="7571232" y="3383280"/>
            <a:ext cx="310896" cy="73152"/>
          </a:xfrm>
          <a:prstGeom prst="roundRect">
            <a:avLst/>
          </a:prstGeom>
          <a:solidFill>
            <a:srgbClr val="006FE8"/>
          </a:solidFill>
          <a:ln>
            <a:noFill/>
          </a:ln>
        </p:spPr>
        <p:txBody>
          <a:bodyPr anchor="ctr" lIns="0" rIns="0" tIns="0" bIns="0">
            <a:noAutofit/>
          </a:bodyPr>
          <a:lstStyle/>
          <a:p>
            <a:pPr indent="0" lvl="0" marL="0" marR="0" rtl="0" algn="l">
              <a:spcBef>
                <a:spcPts val="0"/>
              </a:spcBef>
              <a:spcAft>
                <a:spcPts val="0"/>
              </a:spcAft>
              <a:buNone/>
            </a:pPr>
          </a:p>
        </p:txBody>
      </p:sp>
      <p:cxnSp>
        <p:nvCxnSpPr>
          <p:cNvPr id="22" name="Icon shower drop 1"/>
          <p:cNvCxnSpPr/>
          <p:nvPr/>
        </p:nvCxnSpPr>
        <p:spPr>
          <a:xfrm>
            <a:off x="7626096" y="3502152"/>
            <a:ext cx="0" cy="164592"/>
          </a:xfrm>
          <a:prstGeom prst="straightConnector1">
            <a:avLst/>
          </a:prstGeom>
          <a:ln w="19050" cap="rnd">
            <a:solidFill>
              <a:srgbClr val="006FE8"/>
            </a:solidFill>
            <a:round/>
          </a:ln>
        </p:spPr>
      </p:cxnSp>
      <p:cxnSp>
        <p:nvCxnSpPr>
          <p:cNvPr id="23" name="Icon shower drop 2"/>
          <p:cNvCxnSpPr/>
          <p:nvPr/>
        </p:nvCxnSpPr>
        <p:spPr>
          <a:xfrm>
            <a:off x="7726680" y="3502152"/>
            <a:ext cx="0" cy="164592"/>
          </a:xfrm>
          <a:prstGeom prst="straightConnector1">
            <a:avLst/>
          </a:prstGeom>
          <a:ln w="19050" cap="rnd">
            <a:solidFill>
              <a:srgbClr val="006FE8"/>
            </a:solidFill>
            <a:round/>
          </a:ln>
        </p:spPr>
      </p:cxnSp>
      <p:cxnSp>
        <p:nvCxnSpPr>
          <p:cNvPr id="24" name="Icon shower drop 3"/>
          <p:cNvCxnSpPr/>
          <p:nvPr/>
        </p:nvCxnSpPr>
        <p:spPr>
          <a:xfrm>
            <a:off x="7827264" y="3502152"/>
            <a:ext cx="0" cy="164592"/>
          </a:xfrm>
          <a:prstGeom prst="straightConnector1">
            <a:avLst/>
          </a:prstGeom>
          <a:ln w="19050" cap="rnd">
            <a:solidFill>
              <a:srgbClr val="006FE8"/>
            </a:solidFill>
            <a:round/>
          </a:ln>
        </p:spPr>
      </p:cxnSp>
      <p:sp>
        <p:nvSpPr>
          <p:cNvPr id="25" name="Step caption 4"/>
          <p:cNvSpPr txBox="1"/>
          <p:nvPr/>
        </p:nvSpPr>
        <p:spPr>
          <a:xfrm>
            <a:off x="6812280" y="3904488"/>
            <a:ext cx="182880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200" b="0">
                <a:solidFill>
                  <a:srgbClr val="52606D"/>
                </a:solidFill>
                <a:latin typeface="Quattrocento Sans"/>
                <a:ea typeface="Quattrocento Sans"/>
                <a:cs typeface="Quattrocento Sans"/>
                <a:sym typeface="Quattrocento Sans"/>
              </a:rPr>
              <a:t>Shower</a:t>
            </a:r>
          </a:p>
        </p:txBody>
      </p:sp>
      <p:sp>
        <p:nvSpPr>
          <p:cNvPr id="26" name="Footer caveat"/>
          <p:cNvSpPr txBox="1"/>
          <p:nvPr/>
        </p:nvSpPr>
        <p:spPr>
          <a:xfrm>
            <a:off x="566928" y="4791456"/>
            <a:ext cx="7644384"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000" b="0">
                <a:solidFill>
                  <a:srgbClr val="52606D"/>
                </a:solidFill>
                <a:latin typeface="Quattrocento Sans"/>
                <a:ea typeface="Quattrocento Sans"/>
                <a:cs typeface="Quattrocento Sans"/>
                <a:sym typeface="Quattrocento Sans"/>
              </a:rPr>
              <a:t>Grounded in interviews 1–2 (27 Sept 2026): waits of 3–4 and 3–5 min; “I’m waiting outside”; “just sit there”; “no idea… at least a bucket”.</a:t>
            </a:r>
          </a:p>
        </p:txBody>
      </p:sp>
      <p:sp>
        <p:nvSpPr>
          <p:cNvPr id="27" name="Slide number"/>
          <p:cNvSpPr txBox="1"/>
          <p:nvPr/>
        </p:nvSpPr>
        <p:spPr>
          <a:xfrm>
            <a:off x="8357616" y="4791456"/>
            <a:ext cx="356616"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000" b="0">
                <a:solidFill>
                  <a:srgbClr val="52606D"/>
                </a:solidFill>
                <a:latin typeface="Quattrocento Sans"/>
                <a:ea typeface="Quattrocento Sans"/>
                <a:cs typeface="Quattrocento Sans"/>
                <a:sym typeface="Quattrocento Sans"/>
              </a:rPr>
              <a:t>10</a:t>
            </a:r>
          </a:p>
        </p:txBody>
      </p:sp>
    </p:spTree>
  </p:cSld>
  <p:clrMapOvr>
    <a:masterClrMapping/>
  </p:clrMapOvr>
  <mc:AlternateContent xmlns:mc="http://schemas.openxmlformats.org/markup-compatibility/2006" xmlns:p14="http://schemas.microsoft.com/office/powerpoint/2010/main">
    <mc:Choice Requires="p14">
      <p:transition spd="fast" p14:dur="500">
        <p:fade/>
      </p:transition>
    </mc:Choice>
    <mc:Fallback>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5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00"/>
                                        <p:tgtEl>
                                          <p:spTgt spid="1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500"/>
                                        <p:tgtEl>
                                          <p:spTgt spid="1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500"/>
                                        <p:tgtEl>
                                          <p:spTgt spid="17"/>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500"/>
                                        <p:tgtEl>
                                          <p:spTgt spid="18"/>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fade">
                                      <p:cBhvr>
                                        <p:cTn id="68" dur="500"/>
                                        <p:tgtEl>
                                          <p:spTgt spid="19"/>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500"/>
                                        <p:tgtEl>
                                          <p:spTgt spid="20"/>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500"/>
                                        <p:tgtEl>
                                          <p:spTgt spid="21"/>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500"/>
                                        <p:tgtEl>
                                          <p:spTgt spid="22"/>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3"/>
                                        </p:tgtEl>
                                        <p:attrNameLst>
                                          <p:attrName>style.visibility</p:attrName>
                                        </p:attrNameLst>
                                      </p:cBhvr>
                                      <p:to>
                                        <p:strVal val="visible"/>
                                      </p:to>
                                    </p:set>
                                    <p:animEffect transition="in" filter="fade">
                                      <p:cBhvr>
                                        <p:cTn id="80" dur="500"/>
                                        <p:tgtEl>
                                          <p:spTgt spid="23"/>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500"/>
                                        <p:tgtEl>
                                          <p:spTgt spid="24"/>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fade">
                                      <p:cBhvr>
                                        <p:cTn id="8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7" grpId="0" animBg="1"/>
      <p:bldP spid="18" grpId="0" animBg="1"/>
      <p:bldP spid="19" grpId="0" animBg="1"/>
      <p:bldP spid="20" grpId="0" animBg="1"/>
      <p:bldP spid="21" grpId="0" animBg="1"/>
      <p:bldP spid="25"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9"/>
        </a:solidFill>
        <a:effectLst/>
      </p:bgPr>
    </p:bg>
    <p:spTree>
      <p:nvGrpSpPr>
        <p:cNvPr id="1" name=""/>
        <p:cNvGrpSpPr/>
        <p:nvPr/>
      </p:nvGrpSpPr>
      <p:grpSpPr/>
      <p:sp>
        <p:nvSpPr>
          <p:cNvPr id="2" name="Section label"/>
          <p:cNvSpPr txBox="1"/>
          <p:nvPr/>
        </p:nvSpPr>
        <p:spPr>
          <a:xfrm>
            <a:off x="566928" y="356616"/>
            <a:ext cx="8001000" cy="2103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100" b="1">
                <a:solidFill>
                  <a:srgbClr val="006FE8"/>
                </a:solidFill>
                <a:latin typeface="Quattrocento Sans"/>
                <a:ea typeface="Quattrocento Sans"/>
                <a:cs typeface="Quattrocento Sans"/>
                <a:sym typeface="Quattrocento Sans"/>
              </a:rPr>
              <a:t>CONSTRAINTS — WHY THE PROBLEM PERSISTS</a:t>
            </a:r>
          </a:p>
        </p:txBody>
      </p:sp>
      <p:sp>
        <p:nvSpPr>
          <p:cNvPr id="3" name="Headline"/>
          <p:cNvSpPr txBox="1"/>
          <p:nvPr/>
        </p:nvSpPr>
        <p:spPr>
          <a:xfrm>
            <a:off x="539496" y="713232"/>
            <a:ext cx="813816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2600" b="1">
                <a:solidFill>
                  <a:srgbClr val="111820"/>
                </a:solidFill>
                <a:latin typeface="Quattrocento Sans"/>
                <a:ea typeface="Quattrocento Sans"/>
                <a:cs typeface="Quattrocento Sans"/>
                <a:sym typeface="Quattrocento Sans"/>
              </a:rPr>
              <a:t>Why the water keeps running</a:t>
            </a:r>
          </a:p>
        </p:txBody>
      </p:sp>
      <p:sp>
        <p:nvSpPr>
          <p:cNvPr id="4" name="Card 1"/>
          <p:cNvSpPr/>
          <p:nvPr/>
        </p:nvSpPr>
        <p:spPr>
          <a:xfrm>
            <a:off x="566928" y="1325880"/>
            <a:ext cx="1536192" cy="2560320"/>
          </a:xfrm>
          <a:prstGeom prst="rect">
            <a:avLst/>
          </a:prstGeom>
          <a:solidFill>
            <a:srgbClr val="FFFFFF"/>
          </a:solidFill>
          <a:ln w="7150" cap="rnd">
            <a:solidFill>
              <a:srgbClr val="D7DFE5"/>
            </a:solidFill>
            <a:round/>
          </a:ln>
        </p:spPr>
        <p:txBody>
          <a:bodyPr anchor="ctr" lIns="0" rIns="0" tIns="0" bIns="0">
            <a:noAutofit/>
          </a:bodyPr>
          <a:lstStyle/>
          <a:p>
            <a:pPr indent="0" lvl="0" marL="0" marR="0" rtl="0" algn="l">
              <a:spcBef>
                <a:spcPts val="0"/>
              </a:spcBef>
              <a:spcAft>
                <a:spcPts val="0"/>
              </a:spcAft>
              <a:buNone/>
            </a:pPr>
          </a:p>
        </p:txBody>
      </p:sp>
      <p:sp>
        <p:nvSpPr>
          <p:cNvPr id="5" name="Card number 1"/>
          <p:cNvSpPr txBox="1"/>
          <p:nvPr/>
        </p:nvSpPr>
        <p:spPr>
          <a:xfrm>
            <a:off x="704088" y="1453896"/>
            <a:ext cx="9144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2000" b="1">
                <a:solidFill>
                  <a:srgbClr val="006FE8"/>
                </a:solidFill>
                <a:latin typeface="Quattrocento Sans"/>
                <a:ea typeface="Quattrocento Sans"/>
                <a:cs typeface="Quattrocento Sans"/>
                <a:sym typeface="Quattrocento Sans"/>
              </a:rPr>
              <a:t>01</a:t>
            </a:r>
          </a:p>
        </p:txBody>
      </p:sp>
      <p:sp>
        <p:nvSpPr>
          <p:cNvPr id="6" name="Card title 1"/>
          <p:cNvSpPr txBox="1"/>
          <p:nvPr/>
        </p:nvSpPr>
        <p:spPr>
          <a:xfrm>
            <a:off x="704088" y="1828800"/>
            <a:ext cx="1261872"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200" b="1">
                <a:solidFill>
                  <a:srgbClr val="111820"/>
                </a:solidFill>
                <a:latin typeface="Quattrocento Sans"/>
                <a:ea typeface="Quattrocento Sans"/>
                <a:cs typeface="Quattrocento Sans"/>
                <a:sym typeface="Quattrocento Sans"/>
              </a:rPr>
              <a:t>HABIT</a:t>
            </a:r>
          </a:p>
        </p:txBody>
      </p:sp>
      <p:sp>
        <p:nvSpPr>
          <p:cNvPr id="7" name="Card body 1"/>
          <p:cNvSpPr txBox="1"/>
          <p:nvPr/>
        </p:nvSpPr>
        <p:spPr>
          <a:xfrm>
            <a:off x="704088" y="2130552"/>
            <a:ext cx="1261872" cy="128016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lang="en" sz="1100" b="0">
                <a:solidFill>
                  <a:srgbClr val="52606D"/>
                </a:solidFill>
                <a:latin typeface="Quattrocento Sans"/>
                <a:ea typeface="Quattrocento Sans"/>
                <a:cs typeface="Quattrocento Sans"/>
                <a:sym typeface="Quattrocento Sans"/>
              </a:rPr>
              <a:t>Turn it on, then wait — outside the room or standing by. The run-off is never handled.</a:t>
            </a:r>
          </a:p>
        </p:txBody>
      </p:sp>
      <p:sp>
        <p:nvSpPr>
          <p:cNvPr id="8" name="Card tag 1"/>
          <p:cNvSpPr txBox="1"/>
          <p:nvPr/>
        </p:nvSpPr>
        <p:spPr>
          <a:xfrm>
            <a:off x="704088" y="3502152"/>
            <a:ext cx="1261872"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900" b="1">
                <a:solidFill>
                  <a:srgbClr val="006FE8"/>
                </a:solidFill>
                <a:latin typeface="Quattrocento Sans"/>
                <a:ea typeface="Quattrocento Sans"/>
                <a:cs typeface="Quattrocento Sans"/>
                <a:sym typeface="Quattrocento Sans"/>
              </a:rPr>
              <a:t>Interviews 1–2</a:t>
            </a:r>
          </a:p>
        </p:txBody>
      </p:sp>
      <p:sp>
        <p:nvSpPr>
          <p:cNvPr id="9" name="Card 2"/>
          <p:cNvSpPr/>
          <p:nvPr/>
        </p:nvSpPr>
        <p:spPr>
          <a:xfrm>
            <a:off x="2208276" y="1325880"/>
            <a:ext cx="1536192" cy="2560320"/>
          </a:xfrm>
          <a:prstGeom prst="rect">
            <a:avLst/>
          </a:prstGeom>
          <a:solidFill>
            <a:srgbClr val="FFFFFF"/>
          </a:solidFill>
          <a:ln w="7150" cap="rnd">
            <a:solidFill>
              <a:srgbClr val="D7DFE5"/>
            </a:solidFill>
            <a:round/>
          </a:ln>
        </p:spPr>
        <p:txBody>
          <a:bodyPr anchor="ctr" lIns="0" rIns="0" tIns="0" bIns="0">
            <a:noAutofit/>
          </a:bodyPr>
          <a:lstStyle/>
          <a:p>
            <a:pPr indent="0" lvl="0" marL="0" marR="0" rtl="0" algn="l">
              <a:spcBef>
                <a:spcPts val="0"/>
              </a:spcBef>
              <a:spcAft>
                <a:spcPts val="0"/>
              </a:spcAft>
              <a:buNone/>
            </a:pPr>
          </a:p>
        </p:txBody>
      </p:sp>
      <p:sp>
        <p:nvSpPr>
          <p:cNvPr id="10" name="Card number 2"/>
          <p:cNvSpPr txBox="1"/>
          <p:nvPr/>
        </p:nvSpPr>
        <p:spPr>
          <a:xfrm>
            <a:off x="2345436" y="1453896"/>
            <a:ext cx="9144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2000" b="1">
                <a:solidFill>
                  <a:srgbClr val="006FE8"/>
                </a:solidFill>
                <a:latin typeface="Quattrocento Sans"/>
                <a:ea typeface="Quattrocento Sans"/>
                <a:cs typeface="Quattrocento Sans"/>
                <a:sym typeface="Quattrocento Sans"/>
              </a:rPr>
              <a:t>02</a:t>
            </a:r>
          </a:p>
        </p:txBody>
      </p:sp>
      <p:sp>
        <p:nvSpPr>
          <p:cNvPr id="11" name="Card title 2"/>
          <p:cNvSpPr txBox="1"/>
          <p:nvPr/>
        </p:nvSpPr>
        <p:spPr>
          <a:xfrm>
            <a:off x="2345436" y="1828800"/>
            <a:ext cx="1261872"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200" b="1">
                <a:solidFill>
                  <a:srgbClr val="111820"/>
                </a:solidFill>
                <a:latin typeface="Quattrocento Sans"/>
                <a:ea typeface="Quattrocento Sans"/>
                <a:cs typeface="Quattrocento Sans"/>
                <a:sym typeface="Quattrocento Sans"/>
              </a:rPr>
              <a:t>COST SIGNAL</a:t>
            </a:r>
          </a:p>
        </p:txBody>
      </p:sp>
      <p:sp>
        <p:nvSpPr>
          <p:cNvPr id="12" name="Card body 2"/>
          <p:cNvSpPr txBox="1"/>
          <p:nvPr/>
        </p:nvSpPr>
        <p:spPr>
          <a:xfrm>
            <a:off x="2345436" y="2130552"/>
            <a:ext cx="1261872" cy="128016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lang="en" sz="1100" b="0">
                <a:solidFill>
                  <a:srgbClr val="52606D"/>
                </a:solidFill>
                <a:latin typeface="Quattrocento Sans"/>
                <a:ea typeface="Quattrocento Sans"/>
                <a:cs typeface="Quattrocento Sans"/>
                <a:sym typeface="Quattrocento Sans"/>
              </a:rPr>
              <a:t>Neither person could estimate the loss (“at least a bucket”). Nothing in the moment makes it visible.</a:t>
            </a:r>
          </a:p>
        </p:txBody>
      </p:sp>
      <p:sp>
        <p:nvSpPr>
          <p:cNvPr id="13" name="Card tag 2"/>
          <p:cNvSpPr txBox="1"/>
          <p:nvPr/>
        </p:nvSpPr>
        <p:spPr>
          <a:xfrm>
            <a:off x="2345436" y="3502152"/>
            <a:ext cx="1261872"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900" b="1">
                <a:solidFill>
                  <a:srgbClr val="006FE8"/>
                </a:solidFill>
                <a:latin typeface="Quattrocento Sans"/>
                <a:ea typeface="Quattrocento Sans"/>
                <a:cs typeface="Quattrocento Sans"/>
                <a:sym typeface="Quattrocento Sans"/>
              </a:rPr>
              <a:t>Interviews 1–2 · context</a:t>
            </a:r>
          </a:p>
        </p:txBody>
      </p:sp>
      <p:sp>
        <p:nvSpPr>
          <p:cNvPr id="14" name="Card 3"/>
          <p:cNvSpPr/>
          <p:nvPr/>
        </p:nvSpPr>
        <p:spPr>
          <a:xfrm>
            <a:off x="3849624" y="1325880"/>
            <a:ext cx="1536192" cy="2560320"/>
          </a:xfrm>
          <a:prstGeom prst="rect">
            <a:avLst/>
          </a:prstGeom>
          <a:solidFill>
            <a:srgbClr val="FFFFFF"/>
          </a:solidFill>
          <a:ln w="7150" cap="rnd">
            <a:solidFill>
              <a:srgbClr val="D7DFE5"/>
            </a:solidFill>
            <a:round/>
          </a:ln>
        </p:spPr>
        <p:txBody>
          <a:bodyPr anchor="ctr" lIns="0" rIns="0" tIns="0" bIns="0">
            <a:noAutofit/>
          </a:bodyPr>
          <a:lstStyle/>
          <a:p>
            <a:pPr indent="0" lvl="0" marL="0" marR="0" rtl="0" algn="l">
              <a:spcBef>
                <a:spcPts val="0"/>
              </a:spcBef>
              <a:spcAft>
                <a:spcPts val="0"/>
              </a:spcAft>
              <a:buNone/>
            </a:pPr>
          </a:p>
        </p:txBody>
      </p:sp>
      <p:sp>
        <p:nvSpPr>
          <p:cNvPr id="15" name="Card number 3"/>
          <p:cNvSpPr txBox="1"/>
          <p:nvPr/>
        </p:nvSpPr>
        <p:spPr>
          <a:xfrm>
            <a:off x="3986784" y="1453896"/>
            <a:ext cx="9144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2000" b="1">
                <a:solidFill>
                  <a:srgbClr val="006FE8"/>
                </a:solidFill>
                <a:latin typeface="Quattrocento Sans"/>
                <a:ea typeface="Quattrocento Sans"/>
                <a:cs typeface="Quattrocento Sans"/>
                <a:sym typeface="Quattrocento Sans"/>
              </a:rPr>
              <a:t>03</a:t>
            </a:r>
          </a:p>
        </p:txBody>
      </p:sp>
      <p:sp>
        <p:nvSpPr>
          <p:cNvPr id="16" name="Card title 3"/>
          <p:cNvSpPr txBox="1"/>
          <p:nvPr/>
        </p:nvSpPr>
        <p:spPr>
          <a:xfrm>
            <a:off x="3986784" y="1828800"/>
            <a:ext cx="1261872"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200" b="1">
                <a:solidFill>
                  <a:srgbClr val="111820"/>
                </a:solidFill>
                <a:latin typeface="Quattrocento Sans"/>
                <a:ea typeface="Quattrocento Sans"/>
                <a:cs typeface="Quattrocento Sans"/>
                <a:sym typeface="Quattrocento Sans"/>
              </a:rPr>
              <a:t>SYSTEMS</a:t>
            </a:r>
          </a:p>
        </p:txBody>
      </p:sp>
      <p:sp>
        <p:nvSpPr>
          <p:cNvPr id="17" name="Card body 3"/>
          <p:cNvSpPr txBox="1"/>
          <p:nvPr/>
        </p:nvSpPr>
        <p:spPr>
          <a:xfrm>
            <a:off x="3986784" y="2130552"/>
            <a:ext cx="1261872" cy="128016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lang="en" sz="1100" b="0">
                <a:solidFill>
                  <a:srgbClr val="52606D"/>
                </a:solidFill>
                <a:latin typeface="Quattrocento Sans"/>
                <a:ea typeface="Quattrocento Sans"/>
                <a:cs typeface="Quattrocento Sans"/>
                <a:sym typeface="Quattrocento Sans"/>
              </a:rPr>
              <a:t>Water is heated far from the shower; the pipe must clear every time. Changing the plumbing is rarely an option.</a:t>
            </a:r>
          </a:p>
        </p:txBody>
      </p:sp>
      <p:sp>
        <p:nvSpPr>
          <p:cNvPr id="18" name="Card tag 3"/>
          <p:cNvSpPr txBox="1"/>
          <p:nvPr/>
        </p:nvSpPr>
        <p:spPr>
          <a:xfrm>
            <a:off x="3986784" y="3502152"/>
            <a:ext cx="1261872"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900" b="1">
                <a:solidFill>
                  <a:srgbClr val="006FE8"/>
                </a:solidFill>
                <a:latin typeface="Quattrocento Sans"/>
                <a:ea typeface="Quattrocento Sans"/>
                <a:cs typeface="Quattrocento Sans"/>
                <a:sym typeface="Quattrocento Sans"/>
              </a:rPr>
              <a:t>EPA 2026 · to confirm</a:t>
            </a:r>
          </a:p>
        </p:txBody>
      </p:sp>
      <p:sp>
        <p:nvSpPr>
          <p:cNvPr id="19" name="Card 4"/>
          <p:cNvSpPr/>
          <p:nvPr/>
        </p:nvSpPr>
        <p:spPr>
          <a:xfrm>
            <a:off x="5490972" y="1325880"/>
            <a:ext cx="1536192" cy="2560320"/>
          </a:xfrm>
          <a:prstGeom prst="rect">
            <a:avLst/>
          </a:prstGeom>
          <a:solidFill>
            <a:srgbClr val="FFFFFF"/>
          </a:solidFill>
          <a:ln w="7150" cap="rnd">
            <a:solidFill>
              <a:srgbClr val="D7DFE5"/>
            </a:solidFill>
            <a:round/>
          </a:ln>
        </p:spPr>
        <p:txBody>
          <a:bodyPr anchor="ctr" lIns="0" rIns="0" tIns="0" bIns="0">
            <a:noAutofit/>
          </a:bodyPr>
          <a:lstStyle/>
          <a:p>
            <a:pPr indent="0" lvl="0" marL="0" marR="0" rtl="0" algn="l">
              <a:spcBef>
                <a:spcPts val="0"/>
              </a:spcBef>
              <a:spcAft>
                <a:spcPts val="0"/>
              </a:spcAft>
              <a:buNone/>
            </a:pPr>
          </a:p>
        </p:txBody>
      </p:sp>
      <p:sp>
        <p:nvSpPr>
          <p:cNvPr id="20" name="Card number 4"/>
          <p:cNvSpPr txBox="1"/>
          <p:nvPr/>
        </p:nvSpPr>
        <p:spPr>
          <a:xfrm>
            <a:off x="5628132" y="1453896"/>
            <a:ext cx="9144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2000" b="1">
                <a:solidFill>
                  <a:srgbClr val="006FE8"/>
                </a:solidFill>
                <a:latin typeface="Quattrocento Sans"/>
                <a:ea typeface="Quattrocento Sans"/>
                <a:cs typeface="Quattrocento Sans"/>
                <a:sym typeface="Quattrocento Sans"/>
              </a:rPr>
              <a:t>04</a:t>
            </a:r>
          </a:p>
        </p:txBody>
      </p:sp>
      <p:sp>
        <p:nvSpPr>
          <p:cNvPr id="21" name="Card title 4"/>
          <p:cNvSpPr txBox="1"/>
          <p:nvPr/>
        </p:nvSpPr>
        <p:spPr>
          <a:xfrm>
            <a:off x="5628132" y="1828800"/>
            <a:ext cx="1261872"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200" b="1">
                <a:solidFill>
                  <a:srgbClr val="111820"/>
                </a:solidFill>
                <a:latin typeface="Quattrocento Sans"/>
                <a:ea typeface="Quattrocento Sans"/>
                <a:cs typeface="Quattrocento Sans"/>
                <a:sym typeface="Quattrocento Sans"/>
              </a:rPr>
              <a:t>CLIMATE</a:t>
            </a:r>
          </a:p>
        </p:txBody>
      </p:sp>
      <p:sp>
        <p:nvSpPr>
          <p:cNvPr id="22" name="Card body 4"/>
          <p:cNvSpPr txBox="1"/>
          <p:nvPr/>
        </p:nvSpPr>
        <p:spPr>
          <a:xfrm>
            <a:off x="5628132" y="2130552"/>
            <a:ext cx="1261872" cy="128016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lang="en" sz="1100" b="0">
                <a:solidFill>
                  <a:srgbClr val="52606D"/>
                </a:solidFill>
                <a:latin typeface="Quattrocento Sans"/>
                <a:ea typeface="Quattrocento Sans"/>
                <a:cs typeface="Quattrocento Sans"/>
                <a:sym typeface="Quattrocento Sans"/>
              </a:rPr>
              <a:t>Colder inlet water in winter should lengthen the wait. Not covered in either interview.</a:t>
            </a:r>
          </a:p>
        </p:txBody>
      </p:sp>
      <p:sp>
        <p:nvSpPr>
          <p:cNvPr id="23" name="Card tag 4"/>
          <p:cNvSpPr txBox="1"/>
          <p:nvPr/>
        </p:nvSpPr>
        <p:spPr>
          <a:xfrm>
            <a:off x="5628132" y="3502152"/>
            <a:ext cx="1261872"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900" b="1">
                <a:solidFill>
                  <a:srgbClr val="006FE8"/>
                </a:solidFill>
                <a:latin typeface="Quattrocento Sans"/>
                <a:ea typeface="Quattrocento Sans"/>
                <a:cs typeface="Quattrocento Sans"/>
                <a:sym typeface="Quattrocento Sans"/>
              </a:rPr>
              <a:t>To verify — interview 3</a:t>
            </a:r>
          </a:p>
        </p:txBody>
      </p:sp>
      <p:sp>
        <p:nvSpPr>
          <p:cNvPr id="24" name="Card 5"/>
          <p:cNvSpPr/>
          <p:nvPr/>
        </p:nvSpPr>
        <p:spPr>
          <a:xfrm>
            <a:off x="7132320" y="1325880"/>
            <a:ext cx="1536192" cy="2560320"/>
          </a:xfrm>
          <a:prstGeom prst="rect">
            <a:avLst/>
          </a:prstGeom>
          <a:solidFill>
            <a:srgbClr val="FFFFFF"/>
          </a:solidFill>
          <a:ln w="7150" cap="rnd">
            <a:solidFill>
              <a:srgbClr val="D7DFE5"/>
            </a:solidFill>
            <a:round/>
          </a:ln>
        </p:spPr>
        <p:txBody>
          <a:bodyPr anchor="ctr" lIns="0" rIns="0" tIns="0" bIns="0">
            <a:noAutofit/>
          </a:bodyPr>
          <a:lstStyle/>
          <a:p>
            <a:pPr indent="0" lvl="0" marL="0" marR="0" rtl="0" algn="l">
              <a:spcBef>
                <a:spcPts val="0"/>
              </a:spcBef>
              <a:spcAft>
                <a:spcPts val="0"/>
              </a:spcAft>
              <a:buNone/>
            </a:pPr>
          </a:p>
        </p:txBody>
      </p:sp>
      <p:sp>
        <p:nvSpPr>
          <p:cNvPr id="25" name="Card number 5"/>
          <p:cNvSpPr txBox="1"/>
          <p:nvPr/>
        </p:nvSpPr>
        <p:spPr>
          <a:xfrm>
            <a:off x="7269480" y="1453896"/>
            <a:ext cx="9144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2000" b="1">
                <a:solidFill>
                  <a:srgbClr val="006FE8"/>
                </a:solidFill>
                <a:latin typeface="Quattrocento Sans"/>
                <a:ea typeface="Quattrocento Sans"/>
                <a:cs typeface="Quattrocento Sans"/>
                <a:sym typeface="Quattrocento Sans"/>
              </a:rPr>
              <a:t>05</a:t>
            </a:r>
          </a:p>
        </p:txBody>
      </p:sp>
      <p:sp>
        <p:nvSpPr>
          <p:cNvPr id="26" name="Card title 5"/>
          <p:cNvSpPr txBox="1"/>
          <p:nvPr/>
        </p:nvSpPr>
        <p:spPr>
          <a:xfrm>
            <a:off x="7269480" y="1828800"/>
            <a:ext cx="1261872"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200" b="1">
                <a:solidFill>
                  <a:srgbClr val="111820"/>
                </a:solidFill>
                <a:latin typeface="Quattrocento Sans"/>
                <a:ea typeface="Quattrocento Sans"/>
                <a:cs typeface="Quattrocento Sans"/>
                <a:sym typeface="Quattrocento Sans"/>
              </a:rPr>
              <a:t>ROUTINE</a:t>
            </a:r>
          </a:p>
        </p:txBody>
      </p:sp>
      <p:sp>
        <p:nvSpPr>
          <p:cNvPr id="27" name="Card body 5"/>
          <p:cNvSpPr txBox="1"/>
          <p:nvPr/>
        </p:nvSpPr>
        <p:spPr>
          <a:xfrm>
            <a:off x="7269480" y="2130552"/>
            <a:ext cx="1261872" cy="128016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lang="en" sz="1100" b="0">
                <a:solidFill>
                  <a:srgbClr val="52606D"/>
                </a:solidFill>
                <a:latin typeface="Quattrocento Sans"/>
                <a:ea typeface="Quattrocento Sans"/>
                <a:cs typeface="Quattrocento Sans"/>
                <a:sym typeface="Quattrocento Sans"/>
              </a:rPr>
              <a:t>The wait sits inside getting ready; extra steps compete with time. Not raised by either interviewee.</a:t>
            </a:r>
          </a:p>
        </p:txBody>
      </p:sp>
      <p:sp>
        <p:nvSpPr>
          <p:cNvPr id="28" name="Card tag 5"/>
          <p:cNvSpPr txBox="1"/>
          <p:nvPr/>
        </p:nvSpPr>
        <p:spPr>
          <a:xfrm>
            <a:off x="7269480" y="3502152"/>
            <a:ext cx="1261872" cy="3291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900" b="1">
                <a:solidFill>
                  <a:srgbClr val="006FE8"/>
                </a:solidFill>
                <a:latin typeface="Quattrocento Sans"/>
                <a:ea typeface="Quattrocento Sans"/>
                <a:cs typeface="Quattrocento Sans"/>
                <a:sym typeface="Quattrocento Sans"/>
              </a:rPr>
              <a:t>Assumption — to verify</a:t>
            </a:r>
          </a:p>
        </p:txBody>
      </p:sp>
      <p:sp>
        <p:nvSpPr>
          <p:cNvPr id="29" name="Global footnote"/>
          <p:cNvSpPr txBox="1"/>
          <p:nvPr/>
        </p:nvSpPr>
        <p:spPr>
          <a:xfrm>
            <a:off x="566928" y="4041648"/>
            <a:ext cx="795528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100" b="0" i="1">
                <a:solidFill>
                  <a:srgbClr val="52606D"/>
                </a:solidFill>
                <a:latin typeface="Quattrocento Sans"/>
                <a:ea typeface="Quattrocento Sans"/>
                <a:cs typeface="Quattrocento Sans"/>
                <a:sym typeface="Quattrocento Sans"/>
              </a:rPr>
              <a:t>Elsewhere (scheduled supply in Jordan, RV tanks) the same wait draws on a finite reserve — context, not a finding about our users.</a:t>
            </a:r>
          </a:p>
        </p:txBody>
      </p:sp>
      <p:sp>
        <p:nvSpPr>
          <p:cNvPr id="30" name="Footer caveat"/>
          <p:cNvSpPr txBox="1"/>
          <p:nvPr/>
        </p:nvSpPr>
        <p:spPr>
          <a:xfrm>
            <a:off x="566928" y="4791456"/>
            <a:ext cx="7644384"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000" b="0">
                <a:solidFill>
                  <a:srgbClr val="52606D"/>
                </a:solidFill>
                <a:latin typeface="Quattrocento Sans"/>
                <a:ea typeface="Quattrocento Sans"/>
                <a:cs typeface="Quattrocento Sans"/>
                <a:sym typeface="Quattrocento Sans"/>
              </a:rPr>
              <a:t>Background: EPA 2026 (hot-water delivery). Tags show where each constraint comes from.</a:t>
            </a:r>
          </a:p>
        </p:txBody>
      </p:sp>
      <p:sp>
        <p:nvSpPr>
          <p:cNvPr id="31" name="Slide number"/>
          <p:cNvSpPr txBox="1"/>
          <p:nvPr/>
        </p:nvSpPr>
        <p:spPr>
          <a:xfrm>
            <a:off x="8357616" y="4791456"/>
            <a:ext cx="356616"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000" b="0">
                <a:solidFill>
                  <a:srgbClr val="52606D"/>
                </a:solidFill>
                <a:latin typeface="Quattrocento Sans"/>
                <a:ea typeface="Quattrocento Sans"/>
                <a:cs typeface="Quattrocento Sans"/>
                <a:sym typeface="Quattrocento Sans"/>
              </a:rPr>
              <a:t>11</a:t>
            </a:r>
          </a:p>
        </p:txBody>
      </p:sp>
    </p:spTree>
  </p:cSld>
  <p:clrMapOvr>
    <a:masterClrMapping/>
  </p:clrMapOvr>
  <mc:AlternateContent xmlns:mc="http://schemas.openxmlformats.org/markup-compatibility/2006" xmlns:p14="http://schemas.microsoft.com/office/powerpoint/2010/main">
    <mc:Choice Requires="p14">
      <p:transition spd="fast" p14:dur="500">
        <p:fade/>
      </p:transition>
    </mc:Choice>
    <mc:Fallback>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400"/>
                                        <p:tgtEl>
                                          <p:spTgt spid="4"/>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400"/>
                                        <p:tgtEl>
                                          <p:spTgt spid="5"/>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400"/>
                                        <p:tgtEl>
                                          <p:spTgt spid="6"/>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400"/>
                                        <p:tgtEl>
                                          <p:spTgt spid="7"/>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4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400"/>
                                        <p:tgtEl>
                                          <p:spTgt spid="9"/>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400"/>
                                        <p:tgtEl>
                                          <p:spTgt spid="10"/>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left)">
                                      <p:cBhvr>
                                        <p:cTn id="38" dur="400"/>
                                        <p:tgtEl>
                                          <p:spTgt spid="11"/>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wipe(left)">
                                      <p:cBhvr>
                                        <p:cTn id="41" dur="400"/>
                                        <p:tgtEl>
                                          <p:spTgt spid="12"/>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left)">
                                      <p:cBhvr>
                                        <p:cTn id="44" dur="400"/>
                                        <p:tgtEl>
                                          <p:spTgt spid="1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wipe(left)">
                                      <p:cBhvr>
                                        <p:cTn id="49" dur="400"/>
                                        <p:tgtEl>
                                          <p:spTgt spid="14"/>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400"/>
                                        <p:tgtEl>
                                          <p:spTgt spid="15"/>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wipe(left)">
                                      <p:cBhvr>
                                        <p:cTn id="55" dur="400"/>
                                        <p:tgtEl>
                                          <p:spTgt spid="16"/>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left)">
                                      <p:cBhvr>
                                        <p:cTn id="58" dur="400"/>
                                        <p:tgtEl>
                                          <p:spTgt spid="17"/>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wipe(left)">
                                      <p:cBhvr>
                                        <p:cTn id="61" dur="400"/>
                                        <p:tgtEl>
                                          <p:spTgt spid="18"/>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wipe(left)">
                                      <p:cBhvr>
                                        <p:cTn id="66" dur="400"/>
                                        <p:tgtEl>
                                          <p:spTgt spid="19"/>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wipe(left)">
                                      <p:cBhvr>
                                        <p:cTn id="69" dur="400"/>
                                        <p:tgtEl>
                                          <p:spTgt spid="20"/>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wipe(left)">
                                      <p:cBhvr>
                                        <p:cTn id="72" dur="400"/>
                                        <p:tgtEl>
                                          <p:spTgt spid="21"/>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wipe(left)">
                                      <p:cBhvr>
                                        <p:cTn id="75" dur="400"/>
                                        <p:tgtEl>
                                          <p:spTgt spid="22"/>
                                        </p:tgtEl>
                                      </p:cBhvr>
                                    </p:animEffect>
                                  </p:childTnLst>
                                </p:cTn>
                              </p:par>
                              <p:par>
                                <p:cTn id="76" presetID="22" presetClass="entr" presetSubtype="8" fill="hold" grpId="0" nodeType="withEffect">
                                  <p:stCondLst>
                                    <p:cond delay="0"/>
                                  </p:stCondLst>
                                  <p:childTnLst>
                                    <p:set>
                                      <p:cBhvr>
                                        <p:cTn id="77" dur="1" fill="hold">
                                          <p:stCondLst>
                                            <p:cond delay="0"/>
                                          </p:stCondLst>
                                        </p:cTn>
                                        <p:tgtEl>
                                          <p:spTgt spid="23"/>
                                        </p:tgtEl>
                                        <p:attrNameLst>
                                          <p:attrName>style.visibility</p:attrName>
                                        </p:attrNameLst>
                                      </p:cBhvr>
                                      <p:to>
                                        <p:strVal val="visible"/>
                                      </p:to>
                                    </p:set>
                                    <p:animEffect transition="in" filter="wipe(left)">
                                      <p:cBhvr>
                                        <p:cTn id="78" dur="400"/>
                                        <p:tgtEl>
                                          <p:spTgt spid="23"/>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wipe(left)">
                                      <p:cBhvr>
                                        <p:cTn id="83" dur="400"/>
                                        <p:tgtEl>
                                          <p:spTgt spid="24"/>
                                        </p:tgtEl>
                                      </p:cBhvr>
                                    </p:animEffect>
                                  </p:childTnLst>
                                </p:cTn>
                              </p:par>
                              <p:par>
                                <p:cTn id="84" presetID="22" presetClass="entr" presetSubtype="8" fill="hold" grpId="0" nodeType="with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wipe(left)">
                                      <p:cBhvr>
                                        <p:cTn id="86" dur="400"/>
                                        <p:tgtEl>
                                          <p:spTgt spid="25"/>
                                        </p:tgtEl>
                                      </p:cBhvr>
                                    </p:animEffect>
                                  </p:childTnLst>
                                </p:cTn>
                              </p:par>
                              <p:par>
                                <p:cTn id="87" presetID="22" presetClass="entr" presetSubtype="8" fill="hold" grpId="0" nodeType="withEffect">
                                  <p:stCondLst>
                                    <p:cond delay="0"/>
                                  </p:stCondLst>
                                  <p:childTnLst>
                                    <p:set>
                                      <p:cBhvr>
                                        <p:cTn id="88" dur="1" fill="hold">
                                          <p:stCondLst>
                                            <p:cond delay="0"/>
                                          </p:stCondLst>
                                        </p:cTn>
                                        <p:tgtEl>
                                          <p:spTgt spid="26"/>
                                        </p:tgtEl>
                                        <p:attrNameLst>
                                          <p:attrName>style.visibility</p:attrName>
                                        </p:attrNameLst>
                                      </p:cBhvr>
                                      <p:to>
                                        <p:strVal val="visible"/>
                                      </p:to>
                                    </p:set>
                                    <p:animEffect transition="in" filter="wipe(left)">
                                      <p:cBhvr>
                                        <p:cTn id="89" dur="400"/>
                                        <p:tgtEl>
                                          <p:spTgt spid="26"/>
                                        </p:tgtEl>
                                      </p:cBhvr>
                                    </p:animEffect>
                                  </p:childTnLst>
                                </p:cTn>
                              </p:par>
                              <p:par>
                                <p:cTn id="90" presetID="22" presetClass="entr" presetSubtype="8" fill="hold" grpId="0" nodeType="withEffect">
                                  <p:stCondLst>
                                    <p:cond delay="0"/>
                                  </p:stCondLst>
                                  <p:childTnLst>
                                    <p:set>
                                      <p:cBhvr>
                                        <p:cTn id="91" dur="1" fill="hold">
                                          <p:stCondLst>
                                            <p:cond delay="0"/>
                                          </p:stCondLst>
                                        </p:cTn>
                                        <p:tgtEl>
                                          <p:spTgt spid="27"/>
                                        </p:tgtEl>
                                        <p:attrNameLst>
                                          <p:attrName>style.visibility</p:attrName>
                                        </p:attrNameLst>
                                      </p:cBhvr>
                                      <p:to>
                                        <p:strVal val="visible"/>
                                      </p:to>
                                    </p:set>
                                    <p:animEffect transition="in" filter="wipe(left)">
                                      <p:cBhvr>
                                        <p:cTn id="92" dur="400"/>
                                        <p:tgtEl>
                                          <p:spTgt spid="27"/>
                                        </p:tgtEl>
                                      </p:cBhvr>
                                    </p:animEffect>
                                  </p:childTnLst>
                                </p:cTn>
                              </p:par>
                              <p:par>
                                <p:cTn id="93" presetID="22" presetClass="entr" presetSubtype="8" fill="hold" grpId="0" nodeType="withEffect">
                                  <p:stCondLst>
                                    <p:cond delay="0"/>
                                  </p:stCondLst>
                                  <p:childTnLst>
                                    <p:set>
                                      <p:cBhvr>
                                        <p:cTn id="94" dur="1" fill="hold">
                                          <p:stCondLst>
                                            <p:cond delay="0"/>
                                          </p:stCondLst>
                                        </p:cTn>
                                        <p:tgtEl>
                                          <p:spTgt spid="28"/>
                                        </p:tgtEl>
                                        <p:attrNameLst>
                                          <p:attrName>style.visibility</p:attrName>
                                        </p:attrNameLst>
                                      </p:cBhvr>
                                      <p:to>
                                        <p:strVal val="visible"/>
                                      </p:to>
                                    </p:set>
                                    <p:animEffect transition="in" filter="wipe(left)">
                                      <p:cBhvr>
                                        <p:cTn id="95" dur="400"/>
                                        <p:tgtEl>
                                          <p:spTgt spid="28"/>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29"/>
                                        </p:tgtEl>
                                        <p:attrNameLst>
                                          <p:attrName>style.visibility</p:attrName>
                                        </p:attrNameLst>
                                      </p:cBhvr>
                                      <p:to>
                                        <p:strVal val="visible"/>
                                      </p:to>
                                    </p:set>
                                    <p:animEffect transition="in" filter="fade">
                                      <p:cBhvr>
                                        <p:cTn id="100"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9"/>
        </a:solidFill>
        <a:effectLst/>
      </p:bgPr>
    </p:bg>
    <p:spTree>
      <p:nvGrpSpPr>
        <p:cNvPr id="1" name=""/>
        <p:cNvGrpSpPr/>
        <p:nvPr/>
      </p:nvGrpSpPr>
      <p:grpSpPr/>
      <p:sp>
        <p:nvSpPr>
          <p:cNvPr id="2" name="Section label"/>
          <p:cNvSpPr txBox="1"/>
          <p:nvPr/>
        </p:nvSpPr>
        <p:spPr>
          <a:xfrm>
            <a:off x="566928" y="356616"/>
            <a:ext cx="8001000" cy="2103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100" b="1">
                <a:solidFill>
                  <a:srgbClr val="006FE8"/>
                </a:solidFill>
                <a:latin typeface="Quattrocento Sans"/>
                <a:ea typeface="Quattrocento Sans"/>
                <a:cs typeface="Quattrocento Sans"/>
                <a:sym typeface="Quattrocento Sans"/>
              </a:rPr>
              <a:t>WHAT USERS DO TODAY — AND WHY IT DOES NOT WORK</a:t>
            </a:r>
          </a:p>
        </p:txBody>
      </p:sp>
      <p:sp>
        <p:nvSpPr>
          <p:cNvPr id="3" name="Headline"/>
          <p:cNvSpPr txBox="1"/>
          <p:nvPr/>
        </p:nvSpPr>
        <p:spPr>
          <a:xfrm>
            <a:off x="539496" y="713232"/>
            <a:ext cx="813816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2600" b="1">
                <a:solidFill>
                  <a:srgbClr val="111820"/>
                </a:solidFill>
                <a:latin typeface="Quattrocento Sans"/>
                <a:ea typeface="Quattrocento Sans"/>
                <a:cs typeface="Quattrocento Sans"/>
                <a:sym typeface="Quattrocento Sans"/>
              </a:rPr>
              <a:t>None of today’s options fits these users</a:t>
            </a:r>
          </a:p>
        </p:txBody>
      </p:sp>
      <p:sp>
        <p:nvSpPr>
          <p:cNvPr id="4" name="Header 1"/>
          <p:cNvSpPr txBox="1"/>
          <p:nvPr/>
        </p:nvSpPr>
        <p:spPr>
          <a:xfrm>
            <a:off x="566928" y="1298448"/>
            <a:ext cx="2971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 sz="1200" b="1">
                <a:solidFill>
                  <a:srgbClr val="006FE8"/>
                </a:solidFill>
                <a:latin typeface="Quattrocento Sans"/>
                <a:ea typeface="Quattrocento Sans"/>
                <a:cs typeface="Quattrocento Sans"/>
                <a:sym typeface="Quattrocento Sans"/>
              </a:rPr>
              <a:t>What users do or could do</a:t>
            </a:r>
          </a:p>
        </p:txBody>
      </p:sp>
      <p:sp>
        <p:nvSpPr>
          <p:cNvPr id="5" name="Header 2"/>
          <p:cNvSpPr txBox="1"/>
          <p:nvPr/>
        </p:nvSpPr>
        <p:spPr>
          <a:xfrm>
            <a:off x="3703320" y="1298448"/>
            <a:ext cx="4892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 sz="1200" b="1">
                <a:solidFill>
                  <a:srgbClr val="006FE8"/>
                </a:solidFill>
                <a:latin typeface="Quattrocento Sans"/>
                <a:ea typeface="Quattrocento Sans"/>
                <a:cs typeface="Quattrocento Sans"/>
                <a:sym typeface="Quattrocento Sans"/>
              </a:rPr>
              <a:t>Why it doesn’t work for these users</a:t>
            </a:r>
          </a:p>
        </p:txBody>
      </p:sp>
      <p:cxnSp>
        <p:nvCxnSpPr>
          <p:cNvPr id="6" name="Header rule"/>
          <p:cNvCxnSpPr/>
          <p:nvPr/>
        </p:nvCxnSpPr>
        <p:spPr>
          <a:xfrm>
            <a:off x="566928" y="1609344"/>
            <a:ext cx="8028432" cy="0"/>
          </a:xfrm>
          <a:prstGeom prst="straightConnector1">
            <a:avLst/>
          </a:prstGeom>
          <a:ln w="7150" cap="rnd">
            <a:solidFill>
              <a:srgbClr val="D7DFE5"/>
            </a:solidFill>
            <a:round/>
          </a:ln>
        </p:spPr>
      </p:cxnSp>
      <p:sp>
        <p:nvSpPr>
          <p:cNvPr id="7" name="Row 1 what"/>
          <p:cNvSpPr txBox="1"/>
          <p:nvPr/>
        </p:nvSpPr>
        <p:spPr>
          <a:xfrm>
            <a:off x="566928" y="1664208"/>
            <a:ext cx="2971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100"/>
              </a:spcAft>
              <a:buNone/>
            </a:pPr>
            <a:r>
              <a:rPr lang="en" sz="1300" b="1">
                <a:solidFill>
                  <a:srgbClr val="111820"/>
                </a:solidFill>
                <a:latin typeface="Quattrocento Sans"/>
                <a:ea typeface="Quattrocento Sans"/>
                <a:cs typeface="Quattrocento Sans"/>
                <a:sym typeface="Quattrocento Sans"/>
              </a:rPr>
              <a:t>Turn it on and walk away</a:t>
            </a:r>
          </a:p>
          <a:p>
            <a:pPr indent="0" lvl="0" marL="0" marR="0" rtl="0" algn="l">
              <a:spcBef>
                <a:spcPts val="0"/>
              </a:spcBef>
              <a:spcAft>
                <a:spcPts val="0"/>
              </a:spcAft>
              <a:buNone/>
            </a:pPr>
            <a:r>
              <a:rPr lang="en" sz="1000" b="0" i="1">
                <a:solidFill>
                  <a:srgbClr val="52606D"/>
                </a:solidFill>
                <a:latin typeface="Quattrocento Sans"/>
                <a:ea typeface="Quattrocento Sans"/>
                <a:cs typeface="Quattrocento Sans"/>
                <a:sym typeface="Quattrocento Sans"/>
              </a:rPr>
              <a:t>Interviewee 1: “I’m waiting outside.”</a:t>
            </a:r>
          </a:p>
        </p:txBody>
      </p:sp>
      <p:sp>
        <p:nvSpPr>
          <p:cNvPr id="8" name="Row 1 why"/>
          <p:cNvSpPr txBox="1"/>
          <p:nvPr/>
        </p:nvSpPr>
        <p:spPr>
          <a:xfrm>
            <a:off x="3703320" y="1664208"/>
            <a:ext cx="4892040" cy="54864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None/>
            </a:pPr>
            <a:r>
              <a:rPr lang="en" sz="1200" b="0">
                <a:solidFill>
                  <a:srgbClr val="52606D"/>
                </a:solidFill>
                <a:latin typeface="Quattrocento Sans"/>
                <a:ea typeface="Quattrocento Sans"/>
                <a:cs typeface="Quattrocento Sans"/>
                <a:sym typeface="Quattrocento Sans"/>
              </a:rPr>
              <a:t>Nobody is in the room when warm water arrives, so the run continues until they return.</a:t>
            </a:r>
          </a:p>
        </p:txBody>
      </p:sp>
      <p:cxnSp>
        <p:nvCxnSpPr>
          <p:cNvPr id="9" name="Row 1 rule"/>
          <p:cNvCxnSpPr/>
          <p:nvPr/>
        </p:nvCxnSpPr>
        <p:spPr>
          <a:xfrm>
            <a:off x="566928" y="2231136"/>
            <a:ext cx="8028432" cy="0"/>
          </a:xfrm>
          <a:prstGeom prst="straightConnector1">
            <a:avLst/>
          </a:prstGeom>
          <a:ln w="7150" cap="rnd">
            <a:solidFill>
              <a:srgbClr val="D7DFE5"/>
            </a:solidFill>
            <a:round/>
          </a:ln>
        </p:spPr>
      </p:cxnSp>
      <p:sp>
        <p:nvSpPr>
          <p:cNvPr id="10" name="Row 2 what"/>
          <p:cNvSpPr txBox="1"/>
          <p:nvPr/>
        </p:nvSpPr>
        <p:spPr>
          <a:xfrm>
            <a:off x="566928" y="2267712"/>
            <a:ext cx="2971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100"/>
              </a:spcAft>
              <a:buNone/>
            </a:pPr>
            <a:r>
              <a:rPr lang="en" sz="1300" b="1">
                <a:solidFill>
                  <a:srgbClr val="111820"/>
                </a:solidFill>
                <a:latin typeface="Quattrocento Sans"/>
                <a:ea typeface="Quattrocento Sans"/>
                <a:cs typeface="Quattrocento Sans"/>
                <a:sym typeface="Quattrocento Sans"/>
              </a:rPr>
              <a:t>Stand by and wait</a:t>
            </a:r>
          </a:p>
          <a:p>
            <a:pPr indent="0" lvl="0" marL="0" marR="0" rtl="0" algn="l">
              <a:spcBef>
                <a:spcPts val="0"/>
              </a:spcBef>
              <a:spcAft>
                <a:spcPts val="0"/>
              </a:spcAft>
              <a:buNone/>
            </a:pPr>
            <a:r>
              <a:rPr lang="en" sz="1000" b="0" i="1">
                <a:solidFill>
                  <a:srgbClr val="52606D"/>
                </a:solidFill>
                <a:latin typeface="Quattrocento Sans"/>
                <a:ea typeface="Quattrocento Sans"/>
                <a:cs typeface="Quattrocento Sans"/>
                <a:sym typeface="Quattrocento Sans"/>
              </a:rPr>
              <a:t>Interviewee 2: “just sit there.”</a:t>
            </a:r>
          </a:p>
        </p:txBody>
      </p:sp>
      <p:sp>
        <p:nvSpPr>
          <p:cNvPr id="11" name="Row 2 why"/>
          <p:cNvSpPr txBox="1"/>
          <p:nvPr/>
        </p:nvSpPr>
        <p:spPr>
          <a:xfrm>
            <a:off x="3703320" y="2267712"/>
            <a:ext cx="4892040" cy="54864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None/>
            </a:pPr>
            <a:r>
              <a:rPr lang="en" sz="1200" b="0">
                <a:solidFill>
                  <a:srgbClr val="52606D"/>
                </a:solidFill>
                <a:latin typeface="Quattrocento Sans"/>
                <a:ea typeface="Quattrocento Sans"/>
                <a:cs typeface="Quattrocento Sans"/>
                <a:sym typeface="Quattrocento Sans"/>
              </a:rPr>
              <a:t>Passive minutes with the water in view — and it still goes down the drain.</a:t>
            </a:r>
          </a:p>
        </p:txBody>
      </p:sp>
      <p:cxnSp>
        <p:nvCxnSpPr>
          <p:cNvPr id="12" name="Row 2 rule"/>
          <p:cNvCxnSpPr/>
          <p:nvPr/>
        </p:nvCxnSpPr>
        <p:spPr>
          <a:xfrm>
            <a:off x="566928" y="2834640"/>
            <a:ext cx="8028432" cy="0"/>
          </a:xfrm>
          <a:prstGeom prst="straightConnector1">
            <a:avLst/>
          </a:prstGeom>
          <a:ln w="7150" cap="rnd">
            <a:solidFill>
              <a:srgbClr val="D7DFE5"/>
            </a:solidFill>
            <a:round/>
          </a:ln>
        </p:spPr>
      </p:cxnSp>
      <p:sp>
        <p:nvSpPr>
          <p:cNvPr id="13" name="Row 3 what"/>
          <p:cNvSpPr txBox="1"/>
          <p:nvPr/>
        </p:nvSpPr>
        <p:spPr>
          <a:xfrm>
            <a:off x="566928" y="2871216"/>
            <a:ext cx="2971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100"/>
              </a:spcAft>
              <a:buNone/>
            </a:pPr>
            <a:r>
              <a:rPr lang="en" sz="1300" b="1">
                <a:solidFill>
                  <a:srgbClr val="111820"/>
                </a:solidFill>
                <a:latin typeface="Quattrocento Sans"/>
                <a:ea typeface="Quattrocento Sans"/>
                <a:cs typeface="Quattrocento Sans"/>
                <a:sym typeface="Quattrocento Sans"/>
              </a:rPr>
              <a:t>Collect it in a bucket</a:t>
            </a:r>
          </a:p>
          <a:p>
            <a:pPr indent="0" lvl="0" marL="0" marR="0" rtl="0" algn="l">
              <a:spcBef>
                <a:spcPts val="0"/>
              </a:spcBef>
              <a:spcAft>
                <a:spcPts val="0"/>
              </a:spcAft>
              <a:buNone/>
            </a:pPr>
            <a:r>
              <a:rPr lang="en" sz="1000" b="0" i="1">
                <a:solidFill>
                  <a:srgbClr val="52606D"/>
                </a:solidFill>
                <a:latin typeface="Quattrocento Sans"/>
                <a:ea typeface="Quattrocento Sans"/>
                <a:cs typeface="Quattrocento Sans"/>
                <a:sym typeface="Quattrocento Sans"/>
              </a:rPr>
              <a:t>Interviewee 1: “it just goes down the drain.”</a:t>
            </a:r>
          </a:p>
        </p:txBody>
      </p:sp>
      <p:sp>
        <p:nvSpPr>
          <p:cNvPr id="14" name="Row 3 why"/>
          <p:cNvSpPr txBox="1"/>
          <p:nvPr/>
        </p:nvSpPr>
        <p:spPr>
          <a:xfrm>
            <a:off x="3703320" y="2871216"/>
            <a:ext cx="4892040" cy="54864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None/>
            </a:pPr>
            <a:r>
              <a:rPr lang="en" sz="1200" b="0">
                <a:solidFill>
                  <a:srgbClr val="52606D"/>
                </a:solidFill>
                <a:latin typeface="Quattrocento Sans"/>
                <a:ea typeface="Quattrocento Sans"/>
                <a:cs typeface="Quattrocento Sans"/>
                <a:sym typeface="Quattrocento Sans"/>
              </a:rPr>
              <a:t>Neither interviewee does it. Extra handling and storage, and one user is not even in the room.</a:t>
            </a:r>
          </a:p>
        </p:txBody>
      </p:sp>
      <p:cxnSp>
        <p:nvCxnSpPr>
          <p:cNvPr id="15" name="Row 3 rule"/>
          <p:cNvCxnSpPr/>
          <p:nvPr/>
        </p:nvCxnSpPr>
        <p:spPr>
          <a:xfrm>
            <a:off x="566928" y="3438144"/>
            <a:ext cx="8028432" cy="0"/>
          </a:xfrm>
          <a:prstGeom prst="straightConnector1">
            <a:avLst/>
          </a:prstGeom>
          <a:ln w="7150" cap="rnd">
            <a:solidFill>
              <a:srgbClr val="D7DFE5"/>
            </a:solidFill>
            <a:round/>
          </a:ln>
        </p:spPr>
      </p:cxnSp>
      <p:sp>
        <p:nvSpPr>
          <p:cNvPr id="16" name="Row 4 what"/>
          <p:cNvSpPr txBox="1"/>
          <p:nvPr/>
        </p:nvSpPr>
        <p:spPr>
          <a:xfrm>
            <a:off x="566928" y="3474720"/>
            <a:ext cx="2971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100"/>
              </a:spcAft>
              <a:buNone/>
            </a:pPr>
            <a:r>
              <a:rPr lang="en" sz="1300" b="1">
                <a:solidFill>
                  <a:srgbClr val="111820"/>
                </a:solidFill>
                <a:latin typeface="Quattrocento Sans"/>
                <a:ea typeface="Quattrocento Sans"/>
                <a:cs typeface="Quattrocento Sans"/>
                <a:sym typeface="Quattrocento Sans"/>
              </a:rPr>
              <a:t>Thermostatic shut-off valve</a:t>
            </a:r>
          </a:p>
          <a:p>
            <a:pPr indent="0" lvl="0" marL="0" marR="0" rtl="0" algn="l">
              <a:spcBef>
                <a:spcPts val="0"/>
              </a:spcBef>
              <a:spcAft>
                <a:spcPts val="0"/>
              </a:spcAft>
              <a:buNone/>
            </a:pPr>
            <a:r>
              <a:rPr lang="en" sz="1000" b="0" i="1">
                <a:solidFill>
                  <a:srgbClr val="52606D"/>
                </a:solidFill>
                <a:latin typeface="Quattrocento Sans"/>
                <a:ea typeface="Quattrocento Sans"/>
                <a:cs typeface="Quattrocento Sans"/>
                <a:sym typeface="Quattrocento Sans"/>
              </a:rPr>
              <a:t>Published approach (EPA 2026)</a:t>
            </a:r>
          </a:p>
        </p:txBody>
      </p:sp>
      <p:sp>
        <p:nvSpPr>
          <p:cNvPr id="17" name="Row 4 why"/>
          <p:cNvSpPr txBox="1"/>
          <p:nvPr/>
        </p:nvSpPr>
        <p:spPr>
          <a:xfrm>
            <a:off x="3703320" y="3474720"/>
            <a:ext cx="4892040" cy="54864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None/>
            </a:pPr>
            <a:r>
              <a:rPr lang="en" sz="1200" b="0">
                <a:solidFill>
                  <a:srgbClr val="52606D"/>
                </a:solidFill>
                <a:latin typeface="Quattrocento Sans"/>
                <a:ea typeface="Quattrocento Sans"/>
                <a:cs typeface="Quattrocento Sans"/>
                <a:sym typeface="Quattrocento Sans"/>
              </a:rPr>
              <a:t>Stops the flow once warm water arrives; the cold slug still drains first, and it needs installing.</a:t>
            </a:r>
          </a:p>
        </p:txBody>
      </p:sp>
      <p:cxnSp>
        <p:nvCxnSpPr>
          <p:cNvPr id="18" name="Row 4 rule"/>
          <p:cNvCxnSpPr/>
          <p:nvPr/>
        </p:nvCxnSpPr>
        <p:spPr>
          <a:xfrm>
            <a:off x="566928" y="4041648"/>
            <a:ext cx="8028432" cy="0"/>
          </a:xfrm>
          <a:prstGeom prst="straightConnector1">
            <a:avLst/>
          </a:prstGeom>
          <a:ln w="7150" cap="rnd">
            <a:solidFill>
              <a:srgbClr val="D7DFE5"/>
            </a:solidFill>
            <a:round/>
          </a:ln>
        </p:spPr>
      </p:cxnSp>
      <p:sp>
        <p:nvSpPr>
          <p:cNvPr id="19" name="Row 5 what"/>
          <p:cNvSpPr txBox="1"/>
          <p:nvPr/>
        </p:nvSpPr>
        <p:spPr>
          <a:xfrm>
            <a:off x="566928" y="4078224"/>
            <a:ext cx="2971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100"/>
              </a:spcAft>
              <a:buNone/>
            </a:pPr>
            <a:r>
              <a:rPr lang="en" sz="1300" b="1">
                <a:solidFill>
                  <a:srgbClr val="111820"/>
                </a:solidFill>
                <a:latin typeface="Quattrocento Sans"/>
                <a:ea typeface="Quattrocento Sans"/>
                <a:cs typeface="Quattrocento Sans"/>
                <a:sym typeface="Quattrocento Sans"/>
              </a:rPr>
              <a:t>Recirculation loop</a:t>
            </a:r>
          </a:p>
          <a:p>
            <a:pPr indent="0" lvl="0" marL="0" marR="0" rtl="0" algn="l">
              <a:spcBef>
                <a:spcPts val="0"/>
              </a:spcBef>
              <a:spcAft>
                <a:spcPts val="0"/>
              </a:spcAft>
              <a:buNone/>
            </a:pPr>
            <a:r>
              <a:rPr lang="en" sz="1000" b="0" i="1">
                <a:solidFill>
                  <a:srgbClr val="52606D"/>
                </a:solidFill>
                <a:latin typeface="Quattrocento Sans"/>
                <a:ea typeface="Quattrocento Sans"/>
                <a:cs typeface="Quattrocento Sans"/>
                <a:sym typeface="Quattrocento Sans"/>
              </a:rPr>
              <a:t>Published approach (EPA 2026)</a:t>
            </a:r>
          </a:p>
        </p:txBody>
      </p:sp>
      <p:sp>
        <p:nvSpPr>
          <p:cNvPr id="20" name="Row 5 why"/>
          <p:cNvSpPr txBox="1"/>
          <p:nvPr/>
        </p:nvSpPr>
        <p:spPr>
          <a:xfrm>
            <a:off x="3703320" y="4078224"/>
            <a:ext cx="4892040" cy="54864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None/>
            </a:pPr>
            <a:r>
              <a:rPr lang="en" sz="1200" b="0">
                <a:solidFill>
                  <a:srgbClr val="52606D"/>
                </a:solidFill>
                <a:latin typeface="Quattrocento Sans"/>
                <a:ea typeface="Quattrocento Sans"/>
                <a:cs typeface="Quattrocento Sans"/>
                <a:sym typeface="Quattrocento Sans"/>
              </a:rPr>
              <a:t>Keeps the pipe warm, but it means re-plumbing the home (not an option for tenants; tenure not asked) and adds an energy cost.</a:t>
            </a:r>
          </a:p>
        </p:txBody>
      </p:sp>
      <p:cxnSp>
        <p:nvCxnSpPr>
          <p:cNvPr id="21" name="Row 5 rule"/>
          <p:cNvCxnSpPr/>
          <p:nvPr/>
        </p:nvCxnSpPr>
        <p:spPr>
          <a:xfrm>
            <a:off x="566928" y="4645152"/>
            <a:ext cx="8028432" cy="0"/>
          </a:xfrm>
          <a:prstGeom prst="straightConnector1">
            <a:avLst/>
          </a:prstGeom>
          <a:ln w="7150" cap="rnd">
            <a:solidFill>
              <a:srgbClr val="D7DFE5"/>
            </a:solidFill>
            <a:round/>
          </a:ln>
        </p:spPr>
      </p:cxnSp>
      <p:sp>
        <p:nvSpPr>
          <p:cNvPr id="22" name="Footer caveat"/>
          <p:cNvSpPr txBox="1"/>
          <p:nvPr/>
        </p:nvSpPr>
        <p:spPr>
          <a:xfrm>
            <a:off x="566928" y="4791456"/>
            <a:ext cx="7644384"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000" b="0">
                <a:solidFill>
                  <a:srgbClr val="52606D"/>
                </a:solidFill>
                <a:latin typeface="Quattrocento Sans"/>
                <a:ea typeface="Quattrocento Sans"/>
                <a:cs typeface="Quattrocento Sans"/>
                <a:sym typeface="Quattrocento Sans"/>
              </a:rPr>
              <a:t>Rows 1–3 from interviews 1–2. Rows 4–5 are published approaches (EPA 2026), listed as context, not as proposals.</a:t>
            </a:r>
          </a:p>
        </p:txBody>
      </p:sp>
      <p:sp>
        <p:nvSpPr>
          <p:cNvPr id="23" name="Slide number"/>
          <p:cNvSpPr txBox="1"/>
          <p:nvPr/>
        </p:nvSpPr>
        <p:spPr>
          <a:xfrm>
            <a:off x="8357616" y="4791456"/>
            <a:ext cx="356616"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000" b="0">
                <a:solidFill>
                  <a:srgbClr val="52606D"/>
                </a:solidFill>
                <a:latin typeface="Quattrocento Sans"/>
                <a:ea typeface="Quattrocento Sans"/>
                <a:cs typeface="Quattrocento Sans"/>
                <a:sym typeface="Quattrocento Sans"/>
              </a:rPr>
              <a:t>12</a:t>
            </a:r>
          </a:p>
        </p:txBody>
      </p:sp>
    </p:spTree>
  </p:cSld>
  <p:clrMapOvr>
    <a:masterClrMapping/>
  </p:clrMapOvr>
  <mc:AlternateContent xmlns:mc="http://schemas.openxmlformats.org/markup-compatibility/2006" xmlns:p14="http://schemas.microsoft.com/office/powerpoint/2010/main">
    <mc:Choice Requires="p14">
      <p:transition spd="fast" p14:dur="500">
        <p:fade/>
      </p:transition>
    </mc:Choice>
    <mc:Fallback>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400"/>
                                        <p:tgtEl>
                                          <p:spTgt spid="7"/>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400"/>
                                        <p:tgtEl>
                                          <p:spTgt spid="8"/>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4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400"/>
                                        <p:tgtEl>
                                          <p:spTgt spid="10"/>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left)">
                                      <p:cBhvr>
                                        <p:cTn id="38" dur="400"/>
                                        <p:tgtEl>
                                          <p:spTgt spid="11"/>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wipe(left)">
                                      <p:cBhvr>
                                        <p:cTn id="41" dur="400"/>
                                        <p:tgtEl>
                                          <p:spTgt spid="1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wipe(left)">
                                      <p:cBhvr>
                                        <p:cTn id="46" dur="400"/>
                                        <p:tgtEl>
                                          <p:spTgt spid="13"/>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wipe(left)">
                                      <p:cBhvr>
                                        <p:cTn id="49" dur="400"/>
                                        <p:tgtEl>
                                          <p:spTgt spid="14"/>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4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wipe(left)">
                                      <p:cBhvr>
                                        <p:cTn id="57" dur="400"/>
                                        <p:tgtEl>
                                          <p:spTgt spid="16"/>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wipe(left)">
                                      <p:cBhvr>
                                        <p:cTn id="60" dur="400"/>
                                        <p:tgtEl>
                                          <p:spTgt spid="17"/>
                                        </p:tgtEl>
                                      </p:cBhvr>
                                    </p:animEffect>
                                  </p:childTnLst>
                                </p:cTn>
                              </p:par>
                              <p:par>
                                <p:cTn id="61" presetID="22" presetClass="entr" presetSubtype="8"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wipe(left)">
                                      <p:cBhvr>
                                        <p:cTn id="63" dur="400"/>
                                        <p:tgtEl>
                                          <p:spTgt spid="18"/>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wipe(left)">
                                      <p:cBhvr>
                                        <p:cTn id="68" dur="400"/>
                                        <p:tgtEl>
                                          <p:spTgt spid="19"/>
                                        </p:tgtEl>
                                      </p:cBhvr>
                                    </p:animEffect>
                                  </p:childTnLst>
                                </p:cTn>
                              </p:par>
                              <p:par>
                                <p:cTn id="69" presetID="22" presetClass="entr" presetSubtype="8" fill="hold" grpId="0" nodeType="with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wipe(left)">
                                      <p:cBhvr>
                                        <p:cTn id="71" dur="400"/>
                                        <p:tgtEl>
                                          <p:spTgt spid="20"/>
                                        </p:tgtEl>
                                      </p:cBhvr>
                                    </p:animEffect>
                                  </p:childTnLst>
                                </p:cTn>
                              </p:par>
                              <p:par>
                                <p:cTn id="72" presetID="22" presetClass="entr" presetSubtype="8" fill="hold" grpId="0" nodeType="with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wipe(left)">
                                      <p:cBhvr>
                                        <p:cTn id="74"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5080D"/>
        </a:solidFill>
        <a:effectLst/>
      </p:bgPr>
    </p:bg>
    <p:spTree>
      <p:nvGrpSpPr>
        <p:cNvPr id="1" name=""/>
        <p:cNvGrpSpPr/>
        <p:nvPr/>
      </p:nvGrpSpPr>
      <p:grpSpPr/>
      <p:pic>
        <p:nvPicPr>
          <p:cNvPr id="2" name="Photo: shower" descr="image.png"/>
          <p:cNvPicPr>
            <a:picLocks noChangeAspect="1"/>
          </p:cNvPicPr>
          <p:nvPr/>
        </p:nvPicPr>
        <p:blipFill>
          <a:blip r:embed="rId2"/>
          <a:srcRect b="44000"/>
          <a:stretch>
            <a:fillRect/>
          </a:stretch>
        </p:blipFill>
        <p:spPr>
          <a:xfrm>
            <a:off x="0" y="0"/>
            <a:ext cx="9144000" cy="5143500"/>
          </a:xfrm>
          <a:prstGeom prst="rect">
            <a:avLst/>
          </a:prstGeom>
        </p:spPr>
      </p:pic>
      <p:sp>
        <p:nvSpPr>
          <p:cNvPr id="3" name="Photo overlay"/>
          <p:cNvSpPr/>
          <p:nvPr/>
        </p:nvSpPr>
        <p:spPr>
          <a:xfrm>
            <a:off x="0" y="0"/>
            <a:ext cx="9144000" cy="5143500"/>
          </a:xfrm>
          <a:prstGeom prst="rect">
            <a:avLst/>
          </a:prstGeom>
          <a:solidFill>
            <a:srgbClr val="05080D">
              <a:alpha val="62000"/>
            </a:srgbClr>
          </a:solidFill>
          <a:ln>
            <a:noFill/>
          </a:ln>
        </p:spPr>
        <p:txBody>
          <a:bodyPr anchor="ctr" lIns="0" rIns="0" tIns="0" bIns="0">
            <a:noAutofit/>
          </a:bodyPr>
          <a:lstStyle/>
          <a:p>
            <a:pPr indent="0" lvl="0" marL="0" marR="0" rtl="0" algn="l">
              <a:spcBef>
                <a:spcPts val="0"/>
              </a:spcBef>
              <a:spcAft>
                <a:spcPts val="0"/>
              </a:spcAft>
              <a:buNone/>
            </a:pPr>
          </a:p>
        </p:txBody>
      </p:sp>
      <p:sp>
        <p:nvSpPr>
          <p:cNvPr id="4" name="Section label"/>
          <p:cNvSpPr txBox="1"/>
          <p:nvPr/>
        </p:nvSpPr>
        <p:spPr>
          <a:xfrm>
            <a:off x="566928" y="356616"/>
            <a:ext cx="8001000" cy="2103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100" b="1">
                <a:solidFill>
                  <a:srgbClr val="80D6FF"/>
                </a:solidFill>
                <a:latin typeface="Quattrocento Sans"/>
                <a:ea typeface="Quattrocento Sans"/>
                <a:cs typeface="Quattrocento Sans"/>
                <a:sym typeface="Quattrocento Sans"/>
              </a:rPr>
              <a:t>REFLECTION — 01 / WHAT WE ASSUMED</a:t>
            </a:r>
          </a:p>
        </p:txBody>
      </p:sp>
      <p:sp>
        <p:nvSpPr>
          <p:cNvPr id="5" name="Headline"/>
          <p:cNvSpPr txBox="1"/>
          <p:nvPr/>
        </p:nvSpPr>
        <p:spPr>
          <a:xfrm>
            <a:off x="539496" y="1097280"/>
            <a:ext cx="5486400" cy="1341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4100" b="1">
                <a:solidFill>
                  <a:srgbClr val="FFFFFF"/>
                </a:solidFill>
                <a:latin typeface="Quattrocento Sans"/>
                <a:ea typeface="Quattrocento Sans"/>
                <a:cs typeface="Quattrocento Sans"/>
                <a:sym typeface="Quattrocento Sans"/>
              </a:rPr>
              <a:t>We assumed a</a:t>
            </a:r>
          </a:p>
          <a:p>
            <a:pPr indent="0" lvl="0" marL="0" marR="0" rtl="0" algn="l">
              <a:spcBef>
                <a:spcPts val="0"/>
              </a:spcBef>
              <a:spcAft>
                <a:spcPts val="0"/>
              </a:spcAft>
              <a:buNone/>
            </a:pPr>
            <a:r>
              <a:rPr lang="en" sz="4100" b="1">
                <a:solidFill>
                  <a:srgbClr val="80D6FF"/>
                </a:solidFill>
                <a:latin typeface="Quattrocento Sans"/>
                <a:ea typeface="Quattrocento Sans"/>
                <a:cs typeface="Quattrocento Sans"/>
                <a:sym typeface="Quattrocento Sans"/>
              </a:rPr>
              <a:t>30-second wait</a:t>
            </a:r>
          </a:p>
        </p:txBody>
      </p:sp>
      <p:sp>
        <p:nvSpPr>
          <p:cNvPr id="6" name="Assumption body"/>
          <p:cNvSpPr txBox="1"/>
          <p:nvPr/>
        </p:nvSpPr>
        <p:spPr>
          <a:xfrm>
            <a:off x="566928" y="2880360"/>
            <a:ext cx="548640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600"/>
              </a:spcAft>
              <a:buNone/>
            </a:pPr>
            <a:r>
              <a:rPr lang="en" sz="1800" b="0">
                <a:solidFill>
                  <a:srgbClr val="FFFFFF"/>
                </a:solidFill>
                <a:latin typeface="Quattrocento Sans"/>
                <a:ea typeface="Quattrocento Sans"/>
                <a:cs typeface="Quattrocento Sans"/>
                <a:sym typeface="Quattrocento Sans"/>
              </a:rPr>
              <a:t>…and a few litres lost: 4.35 L per shower.</a:t>
            </a:r>
          </a:p>
          <a:p>
            <a:pPr indent="0" lvl="0" marL="0" marR="0" rtl="0" algn="l">
              <a:spcBef>
                <a:spcPts val="0"/>
              </a:spcBef>
              <a:spcAft>
                <a:spcPts val="0"/>
              </a:spcAft>
              <a:buNone/>
            </a:pPr>
            <a:r>
              <a:rPr lang="en" sz="1800" b="0">
                <a:solidFill>
                  <a:srgbClr val="FFFFFF"/>
                </a:solidFill>
                <a:latin typeface="Quattrocento Sans"/>
                <a:ea typeface="Quattrocento Sans"/>
                <a:cs typeface="Quattrocento Sans"/>
                <a:sym typeface="Quattrocento Sans"/>
              </a:rPr>
              <a:t>A minor annoyance, not a routine.</a:t>
            </a:r>
          </a:p>
        </p:txBody>
      </p:sp>
      <p:sp>
        <p:nvSpPr>
          <p:cNvPr id="7" name="Footer caveat"/>
          <p:cNvSpPr txBox="1"/>
          <p:nvPr/>
        </p:nvSpPr>
        <p:spPr>
          <a:xfrm>
            <a:off x="566928" y="4791456"/>
            <a:ext cx="7644384"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000" b="0">
                <a:solidFill>
                  <a:srgbClr val="B5C1CC"/>
                </a:solidFill>
                <a:latin typeface="Quattrocento Sans"/>
                <a:ea typeface="Quattrocento Sans"/>
                <a:cs typeface="Quattrocento Sans"/>
                <a:sym typeface="Quattrocento Sans"/>
              </a:rPr>
              <a:t>Our starting assumption, before any interview (see slide 5).</a:t>
            </a:r>
          </a:p>
        </p:txBody>
      </p:sp>
      <p:sp>
        <p:nvSpPr>
          <p:cNvPr id="8" name="Slide number"/>
          <p:cNvSpPr txBox="1"/>
          <p:nvPr/>
        </p:nvSpPr>
        <p:spPr>
          <a:xfrm>
            <a:off x="8357616" y="4791456"/>
            <a:ext cx="356616"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000" b="0">
                <a:solidFill>
                  <a:srgbClr val="B5C1CC"/>
                </a:solidFill>
                <a:latin typeface="Quattrocento Sans"/>
                <a:ea typeface="Quattrocento Sans"/>
                <a:cs typeface="Quattrocento Sans"/>
                <a:sym typeface="Quattrocento Sans"/>
              </a:rPr>
              <a:t>13</a:t>
            </a:r>
          </a:p>
        </p:txBody>
      </p:sp>
    </p:spTree>
  </p:cSld>
  <p:clrMapOvr>
    <a:masterClrMapping/>
  </p:clrMapOvr>
  <mc:AlternateContent xmlns:mc="http://schemas.openxmlformats.org/markup-compatibility/2006" xmlns:p14="http://schemas.microsoft.com/office/powerpoint/2010/main">
    <mc:Choice Requires="p14">
      <p:transition spd="fast" p14:dur="500">
        <p:fade/>
      </p:transition>
    </mc:Choice>
    <mc:Fallback>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5080D"/>
        </a:solidFill>
        <a:effectLst/>
      </p:bgPr>
    </p:bg>
    <p:spTree>
      <p:nvGrpSpPr>
        <p:cNvPr id="1" name=""/>
        <p:cNvGrpSpPr/>
        <p:nvPr/>
      </p:nvGrpSpPr>
      <p:grpSpPr/>
      <p:sp>
        <p:nvSpPr>
          <p:cNvPr id="2" name="Section label"/>
          <p:cNvSpPr txBox="1"/>
          <p:nvPr/>
        </p:nvSpPr>
        <p:spPr>
          <a:xfrm>
            <a:off x="566928" y="356616"/>
            <a:ext cx="8001000" cy="2103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100" b="1">
                <a:solidFill>
                  <a:srgbClr val="80D6FF"/>
                </a:solidFill>
                <a:latin typeface="Quattrocento Sans"/>
                <a:ea typeface="Quattrocento Sans"/>
                <a:cs typeface="Quattrocento Sans"/>
                <a:sym typeface="Quattrocento Sans"/>
              </a:rPr>
              <a:t>REFLECTION — 02 / THE EVIDENCE THAT CHANGED IT</a:t>
            </a:r>
          </a:p>
        </p:txBody>
      </p:sp>
      <p:sp>
        <p:nvSpPr>
          <p:cNvPr id="3" name="Evidence quote 1"/>
          <p:cNvSpPr txBox="1"/>
          <p:nvPr/>
        </p:nvSpPr>
        <p:spPr>
          <a:xfrm>
            <a:off x="566928" y="896112"/>
            <a:ext cx="51206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2000" b="1">
                <a:solidFill>
                  <a:srgbClr val="FFFFFF"/>
                </a:solidFill>
                <a:latin typeface="Quattrocento Sans"/>
                <a:ea typeface="Quattrocento Sans"/>
                <a:cs typeface="Quattrocento Sans"/>
                <a:sym typeface="Quattrocento Sans"/>
              </a:rPr>
              <a:t>“About 3 to 4 minutes.”</a:t>
            </a:r>
          </a:p>
        </p:txBody>
      </p:sp>
      <p:sp>
        <p:nvSpPr>
          <p:cNvPr id="4" name="Evidence attribution 1"/>
          <p:cNvSpPr txBox="1"/>
          <p:nvPr/>
        </p:nvSpPr>
        <p:spPr>
          <a:xfrm>
            <a:off x="566928" y="1335024"/>
            <a:ext cx="51206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100" b="0">
                <a:solidFill>
                  <a:srgbClr val="B5C1CC"/>
                </a:solidFill>
                <a:latin typeface="Quattrocento Sans"/>
                <a:ea typeface="Quattrocento Sans"/>
                <a:cs typeface="Quattrocento Sans"/>
                <a:sym typeface="Quattrocento Sans"/>
              </a:rPr>
              <a:t>— Interviewee 1 · 00:22</a:t>
            </a:r>
          </a:p>
        </p:txBody>
      </p:sp>
      <p:sp>
        <p:nvSpPr>
          <p:cNvPr id="5" name="Evidence quote 2"/>
          <p:cNvSpPr txBox="1"/>
          <p:nvPr/>
        </p:nvSpPr>
        <p:spPr>
          <a:xfrm>
            <a:off x="566928" y="1792224"/>
            <a:ext cx="51206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2000" b="1">
                <a:solidFill>
                  <a:srgbClr val="FFFFFF"/>
                </a:solidFill>
                <a:latin typeface="Quattrocento Sans"/>
                <a:ea typeface="Quattrocento Sans"/>
                <a:cs typeface="Quattrocento Sans"/>
                <a:sym typeface="Quattrocento Sans"/>
              </a:rPr>
              <a:t>“Three to five minutes.”</a:t>
            </a:r>
          </a:p>
        </p:txBody>
      </p:sp>
      <p:sp>
        <p:nvSpPr>
          <p:cNvPr id="6" name="Evidence attribution 2"/>
          <p:cNvSpPr txBox="1"/>
          <p:nvPr/>
        </p:nvSpPr>
        <p:spPr>
          <a:xfrm>
            <a:off x="566928" y="2231136"/>
            <a:ext cx="51206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100" b="0">
                <a:solidFill>
                  <a:srgbClr val="B5C1CC"/>
                </a:solidFill>
                <a:latin typeface="Quattrocento Sans"/>
                <a:ea typeface="Quattrocento Sans"/>
                <a:cs typeface="Quattrocento Sans"/>
                <a:sym typeface="Quattrocento Sans"/>
              </a:rPr>
              <a:t>— Interviewee 2 · 00:16</a:t>
            </a:r>
          </a:p>
        </p:txBody>
      </p:sp>
      <p:sp>
        <p:nvSpPr>
          <p:cNvPr id="7" name="Evidence quote 3"/>
          <p:cNvSpPr txBox="1"/>
          <p:nvPr/>
        </p:nvSpPr>
        <p:spPr>
          <a:xfrm>
            <a:off x="566928" y="2688336"/>
            <a:ext cx="51206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2000" b="1">
                <a:solidFill>
                  <a:srgbClr val="FFFFFF"/>
                </a:solidFill>
                <a:latin typeface="Quattrocento Sans"/>
                <a:ea typeface="Quattrocento Sans"/>
                <a:cs typeface="Quattrocento Sans"/>
                <a:sym typeface="Quattrocento Sans"/>
              </a:rPr>
              <a:t>“No idea… I would say at least a bucket.”</a:t>
            </a:r>
          </a:p>
        </p:txBody>
      </p:sp>
      <p:sp>
        <p:nvSpPr>
          <p:cNvPr id="8" name="Evidence attribution 3"/>
          <p:cNvSpPr txBox="1"/>
          <p:nvPr/>
        </p:nvSpPr>
        <p:spPr>
          <a:xfrm>
            <a:off x="566928" y="3127248"/>
            <a:ext cx="51206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100" b="0">
                <a:solidFill>
                  <a:srgbClr val="B5C1CC"/>
                </a:solidFill>
                <a:latin typeface="Quattrocento Sans"/>
                <a:ea typeface="Quattrocento Sans"/>
                <a:cs typeface="Quattrocento Sans"/>
                <a:sym typeface="Quattrocento Sans"/>
              </a:rPr>
              <a:t>— Interviewee 1 · 00:34</a:t>
            </a:r>
          </a:p>
        </p:txBody>
      </p:sp>
      <p:sp>
        <p:nvSpPr>
          <p:cNvPr id="9" name="Evidence quote 4"/>
          <p:cNvSpPr txBox="1"/>
          <p:nvPr/>
        </p:nvSpPr>
        <p:spPr>
          <a:xfrm>
            <a:off x="566928" y="3584448"/>
            <a:ext cx="51206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2000" b="1">
                <a:solidFill>
                  <a:srgbClr val="FFFFFF"/>
                </a:solidFill>
                <a:latin typeface="Quattrocento Sans"/>
                <a:ea typeface="Quattrocento Sans"/>
                <a:cs typeface="Quattrocento Sans"/>
                <a:sym typeface="Quattrocento Sans"/>
              </a:rPr>
              <a:t>“I’m waiting outside.”  /  “…and just sit there.”</a:t>
            </a:r>
          </a:p>
        </p:txBody>
      </p:sp>
      <p:sp>
        <p:nvSpPr>
          <p:cNvPr id="10" name="Evidence attribution 4"/>
          <p:cNvSpPr txBox="1"/>
          <p:nvPr/>
        </p:nvSpPr>
        <p:spPr>
          <a:xfrm>
            <a:off x="566928" y="4023360"/>
            <a:ext cx="51206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100" b="0">
                <a:solidFill>
                  <a:srgbClr val="B5C1CC"/>
                </a:solidFill>
                <a:latin typeface="Quattrocento Sans"/>
                <a:ea typeface="Quattrocento Sans"/>
                <a:cs typeface="Quattrocento Sans"/>
                <a:sym typeface="Quattrocento Sans"/>
              </a:rPr>
              <a:t>— Interviewee 1 · 00:45  /  Interviewee 2 · 00:40</a:t>
            </a:r>
          </a:p>
        </p:txBody>
      </p:sp>
      <p:sp>
        <p:nvSpPr>
          <p:cNvPr id="11" name="Big number ratio"/>
          <p:cNvSpPr txBox="1"/>
          <p:nvPr/>
        </p:nvSpPr>
        <p:spPr>
          <a:xfrm>
            <a:off x="5897880" y="1234440"/>
            <a:ext cx="292608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600" b="1">
                <a:solidFill>
                  <a:srgbClr val="80D6FF"/>
                </a:solidFill>
                <a:latin typeface="Quattrocento Sans"/>
                <a:ea typeface="Quattrocento Sans"/>
                <a:cs typeface="Quattrocento Sans"/>
                <a:sym typeface="Quattrocento Sans"/>
              </a:rPr>
              <a:t>6–10×</a:t>
            </a:r>
          </a:p>
        </p:txBody>
      </p:sp>
      <p:sp>
        <p:nvSpPr>
          <p:cNvPr id="12" name="Ratio label"/>
          <p:cNvSpPr txBox="1"/>
          <p:nvPr/>
        </p:nvSpPr>
        <p:spPr>
          <a:xfrm>
            <a:off x="5943600" y="2514600"/>
            <a:ext cx="27432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700" b="0">
                <a:solidFill>
                  <a:srgbClr val="FFFFFF"/>
                </a:solidFill>
                <a:latin typeface="Quattrocento Sans"/>
                <a:ea typeface="Quattrocento Sans"/>
                <a:cs typeface="Quattrocento Sans"/>
                <a:sym typeface="Quattrocento Sans"/>
              </a:rPr>
              <a:t>longer than we assumed</a:t>
            </a:r>
          </a:p>
          <a:p>
            <a:pPr indent="0" lvl="0" marL="0" marR="0" rtl="0" algn="l">
              <a:spcBef>
                <a:spcPts val="0"/>
              </a:spcBef>
              <a:spcAft>
                <a:spcPts val="0"/>
              </a:spcAft>
              <a:buNone/>
            </a:pPr>
            <a:r>
              <a:rPr lang="en" sz="1400" b="0">
                <a:solidFill>
                  <a:srgbClr val="B5C1CC"/>
                </a:solidFill>
                <a:latin typeface="Quattrocento Sans"/>
                <a:ea typeface="Quattrocento Sans"/>
                <a:cs typeface="Quattrocento Sans"/>
                <a:sym typeface="Quattrocento Sans"/>
              </a:rPr>
              <a:t>3–5 min reported vs 30 s</a:t>
            </a:r>
          </a:p>
        </p:txBody>
      </p:sp>
      <p:sp>
        <p:nvSpPr>
          <p:cNvPr id="13" name="Footer caveat"/>
          <p:cNvSpPr txBox="1"/>
          <p:nvPr/>
        </p:nvSpPr>
        <p:spPr>
          <a:xfrm>
            <a:off x="566928" y="4791456"/>
            <a:ext cx="7644384"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000" b="0">
                <a:solidFill>
                  <a:srgbClr val="B5C1CC"/>
                </a:solidFill>
                <a:latin typeface="Quattrocento Sans"/>
                <a:ea typeface="Quattrocento Sans"/>
                <a:cs typeface="Quattrocento Sans"/>
                <a:sym typeface="Quattrocento Sans"/>
              </a:rPr>
              <a:t>Both interviews, 27 Sept 2026. Transcripts and timestamps: hidden appendix and evidence file.</a:t>
            </a:r>
          </a:p>
        </p:txBody>
      </p:sp>
      <p:sp>
        <p:nvSpPr>
          <p:cNvPr id="14" name="Slide number"/>
          <p:cNvSpPr txBox="1"/>
          <p:nvPr/>
        </p:nvSpPr>
        <p:spPr>
          <a:xfrm>
            <a:off x="8357616" y="4791456"/>
            <a:ext cx="356616"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000" b="0">
                <a:solidFill>
                  <a:srgbClr val="B5C1CC"/>
                </a:solidFill>
                <a:latin typeface="Quattrocento Sans"/>
                <a:ea typeface="Quattrocento Sans"/>
                <a:cs typeface="Quattrocento Sans"/>
                <a:sym typeface="Quattrocento Sans"/>
              </a:rPr>
              <a:t>14</a:t>
            </a:r>
          </a:p>
        </p:txBody>
      </p:sp>
    </p:spTree>
  </p:cSld>
  <p:clrMapOvr>
    <a:masterClrMapping/>
  </p:clrMapOvr>
  <mc:AlternateContent xmlns:mc="http://schemas.openxmlformats.org/markup-compatibility/2006" xmlns:p14="http://schemas.microsoft.com/office/powerpoint/2010/main">
    <mc:Choice Requires="p14">
      <p:transition spd="fast" p14:dur="500">
        <p:fade/>
      </p:transition>
    </mc:Choice>
    <mc:Fallback>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anim calcmode="lin" valueType="num">
                                      <p:cBhvr additive="base">
                                        <p:cTn id="45" dur="500" fill="hold"/>
                                        <p:tgtEl>
                                          <p:spTgt spid="11"/>
                                        </p:tgtEl>
                                        <p:attrNameLst>
                                          <p:attrName>ppt_x</p:attrName>
                                        </p:attrNameLst>
                                      </p:cBhvr>
                                      <p:tavLst>
                                        <p:tav tm="0">
                                          <p:val>
                                            <p:strVal val="#ppt_x"/>
                                          </p:val>
                                        </p:tav>
                                        <p:tav tm="100000">
                                          <p:val>
                                            <p:strVal val="#ppt_x"/>
                                          </p:val>
                                        </p:tav>
                                      </p:tavLst>
                                    </p:anim>
                                    <p:anim calcmode="lin" valueType="num">
                                      <p:cBhvr additive="base">
                                        <p:cTn id="46" dur="500" fill="hold"/>
                                        <p:tgtEl>
                                          <p:spTgt spid="11"/>
                                        </p:tgtEl>
                                        <p:attrNameLst>
                                          <p:attrName>ppt_y</p:attrName>
                                        </p:attrNameLst>
                                      </p:cBhvr>
                                      <p:tavLst>
                                        <p:tav tm="0">
                                          <p:val>
                                            <p:strVal val="1+#ppt_h/2"/>
                                          </p:val>
                                        </p:tav>
                                        <p:tav tm="100000">
                                          <p:val>
                                            <p:strVal val="#ppt_y"/>
                                          </p:val>
                                        </p:tav>
                                      </p:tavLst>
                                    </p:anim>
                                  </p:childTnLst>
                                </p:cTn>
                              </p:par>
                              <p:par>
                                <p:cTn id="47" presetID="10"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5080D"/>
        </a:solidFill>
        <a:effectLst/>
      </p:bgPr>
    </p:bg>
    <p:spTree>
      <p:nvGrpSpPr>
        <p:cNvPr id="1" name=""/>
        <p:cNvGrpSpPr/>
        <p:nvPr/>
      </p:nvGrpSpPr>
      <p:grpSpPr/>
      <p:sp>
        <p:nvSpPr>
          <p:cNvPr id="2" name="Section label"/>
          <p:cNvSpPr txBox="1"/>
          <p:nvPr/>
        </p:nvSpPr>
        <p:spPr>
          <a:xfrm>
            <a:off x="566928" y="356616"/>
            <a:ext cx="8001000" cy="2103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100" b="1">
                <a:solidFill>
                  <a:srgbClr val="80D6FF"/>
                </a:solidFill>
                <a:latin typeface="Quattrocento Sans"/>
                <a:ea typeface="Quattrocento Sans"/>
                <a:cs typeface="Quattrocento Sans"/>
                <a:sym typeface="Quattrocento Sans"/>
              </a:rPr>
              <a:t>REFLECTION — 03 / HOW THE POV SHARPENED</a:t>
            </a:r>
          </a:p>
        </p:txBody>
      </p:sp>
      <p:sp>
        <p:nvSpPr>
          <p:cNvPr id="3" name="Before label"/>
          <p:cNvSpPr txBox="1"/>
          <p:nvPr/>
        </p:nvSpPr>
        <p:spPr>
          <a:xfrm>
            <a:off x="566928" y="960120"/>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100" b="1">
                <a:solidFill>
                  <a:srgbClr val="B5C1CC"/>
                </a:solidFill>
                <a:latin typeface="Quattrocento Sans"/>
                <a:ea typeface="Quattrocento Sans"/>
                <a:cs typeface="Quattrocento Sans"/>
                <a:sym typeface="Quattrocento Sans"/>
              </a:rPr>
              <a:t>BEFORE</a:t>
            </a:r>
          </a:p>
        </p:txBody>
      </p:sp>
      <p:sp>
        <p:nvSpPr>
          <p:cNvPr id="4" name="Before statement"/>
          <p:cNvSpPr txBox="1"/>
          <p:nvPr/>
        </p:nvSpPr>
        <p:spPr>
          <a:xfrm>
            <a:off x="566928" y="1280160"/>
            <a:ext cx="3657600" cy="14630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lang="en" sz="2200" b="1">
                <a:solidFill>
                  <a:srgbClr val="FFFFFF"/>
                </a:solidFill>
                <a:latin typeface="Quattrocento Sans"/>
                <a:ea typeface="Quattrocento Sans"/>
                <a:cs typeface="Quattrocento Sans"/>
                <a:sym typeface="Quattrocento Sans"/>
              </a:rPr>
              <a:t>Residents waste water while waiting for hot water.</a:t>
            </a:r>
          </a:p>
        </p:txBody>
      </p:sp>
      <p:sp>
        <p:nvSpPr>
          <p:cNvPr id="5" name="Before gaps"/>
          <p:cNvSpPr txBox="1"/>
          <p:nvPr/>
        </p:nvSpPr>
        <p:spPr>
          <a:xfrm>
            <a:off x="566928" y="3246120"/>
            <a:ext cx="3657600" cy="13716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400"/>
              </a:spcAft>
              <a:buNone/>
            </a:pPr>
            <a:r>
              <a:rPr lang="en" sz="1400" b="0">
                <a:solidFill>
                  <a:srgbClr val="B5C1CC"/>
                </a:solidFill>
                <a:latin typeface="Quattrocento Sans"/>
                <a:ea typeface="Quattrocento Sans"/>
                <a:cs typeface="Quattrocento Sans"/>
                <a:sym typeface="Quattrocento Sans"/>
              </a:rPr>
              <a:t>Any resident, anywhere</a:t>
            </a:r>
          </a:p>
          <a:p>
            <a:pPr indent="0" lvl="0" marL="0" marR="0" rtl="0" algn="l">
              <a:spcBef>
                <a:spcPts val="0"/>
              </a:spcBef>
              <a:spcAft>
                <a:spcPts val="400"/>
              </a:spcAft>
              <a:buNone/>
            </a:pPr>
            <a:r>
              <a:rPr lang="en" sz="1400" b="0">
                <a:solidFill>
                  <a:srgbClr val="B5C1CC"/>
                </a:solidFill>
                <a:latin typeface="Quattrocento Sans"/>
                <a:ea typeface="Quattrocento Sans"/>
                <a:cs typeface="Quattrocento Sans"/>
                <a:sym typeface="Quattrocento Sans"/>
              </a:rPr>
              <a:t>No estimate of the wait</a:t>
            </a:r>
          </a:p>
          <a:p>
            <a:pPr indent="0" lvl="0" marL="0" marR="0" rtl="0" algn="l">
              <a:spcBef>
                <a:spcPts val="0"/>
              </a:spcBef>
              <a:spcAft>
                <a:spcPts val="400"/>
              </a:spcAft>
              <a:buNone/>
            </a:pPr>
            <a:r>
              <a:rPr lang="en" sz="1400" b="0">
                <a:solidFill>
                  <a:srgbClr val="B5C1CC"/>
                </a:solidFill>
                <a:latin typeface="Quattrocento Sans"/>
                <a:ea typeface="Quattrocento Sans"/>
                <a:cs typeface="Quattrocento Sans"/>
                <a:sym typeface="Quattrocento Sans"/>
              </a:rPr>
              <a:t>No reason it persists</a:t>
            </a:r>
          </a:p>
          <a:p>
            <a:pPr indent="0" lvl="0" marL="0" marR="0" rtl="0" algn="l">
              <a:spcBef>
                <a:spcPts val="0"/>
              </a:spcBef>
              <a:spcAft>
                <a:spcPts val="0"/>
              </a:spcAft>
              <a:buNone/>
            </a:pPr>
            <a:r>
              <a:rPr lang="en" sz="1400" b="0">
                <a:solidFill>
                  <a:srgbClr val="B5C1CC"/>
                </a:solidFill>
                <a:latin typeface="Quattrocento Sans"/>
                <a:ea typeface="Quattrocento Sans"/>
                <a:cs typeface="Quattrocento Sans"/>
                <a:sym typeface="Quattrocento Sans"/>
              </a:rPr>
              <a:t>Nothing a team could act on</a:t>
            </a:r>
          </a:p>
        </p:txBody>
      </p:sp>
      <p:sp>
        <p:nvSpPr>
          <p:cNvPr id="6" name="Arrow"/>
          <p:cNvSpPr/>
          <p:nvPr/>
        </p:nvSpPr>
        <p:spPr>
          <a:xfrm>
            <a:off x="4434840" y="2240280"/>
            <a:ext cx="274320" cy="457200"/>
          </a:xfrm>
          <a:prstGeom prst="chevron">
            <a:avLst/>
          </a:prstGeom>
          <a:solidFill>
            <a:srgbClr val="80D6FF"/>
          </a:solidFill>
          <a:ln>
            <a:noFill/>
          </a:ln>
        </p:spPr>
        <p:txBody>
          <a:bodyPr anchor="ctr" lIns="0" rIns="0" tIns="0" bIns="0">
            <a:noAutofit/>
          </a:bodyPr>
          <a:lstStyle/>
          <a:p>
            <a:pPr indent="0" lvl="0" marL="0" marR="0" rtl="0" algn="l">
              <a:spcBef>
                <a:spcPts val="0"/>
              </a:spcBef>
              <a:spcAft>
                <a:spcPts val="0"/>
              </a:spcAft>
              <a:buNone/>
            </a:pPr>
          </a:p>
        </p:txBody>
      </p:sp>
      <p:sp>
        <p:nvSpPr>
          <p:cNvPr id="7" name="After label"/>
          <p:cNvSpPr txBox="1"/>
          <p:nvPr/>
        </p:nvSpPr>
        <p:spPr>
          <a:xfrm>
            <a:off x="4983480" y="960120"/>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100" b="1">
                <a:solidFill>
                  <a:srgbClr val="80D6FF"/>
                </a:solidFill>
                <a:latin typeface="Quattrocento Sans"/>
                <a:ea typeface="Quattrocento Sans"/>
                <a:cs typeface="Quattrocento Sans"/>
                <a:sym typeface="Quattrocento Sans"/>
              </a:rPr>
              <a:t>AFTER</a:t>
            </a:r>
          </a:p>
        </p:txBody>
      </p:sp>
      <p:sp>
        <p:nvSpPr>
          <p:cNvPr id="8" name="After statement"/>
          <p:cNvSpPr txBox="1"/>
          <p:nvPr/>
        </p:nvSpPr>
        <p:spPr>
          <a:xfrm>
            <a:off x="4983480" y="1280160"/>
            <a:ext cx="3657600" cy="265176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None/>
            </a:pPr>
            <a:r>
              <a:rPr lang="en" sz="1500" b="1">
                <a:solidFill>
                  <a:srgbClr val="FFFFFF"/>
                </a:solidFill>
                <a:latin typeface="Quattrocento Sans"/>
                <a:ea typeface="Quattrocento Sans"/>
                <a:cs typeface="Quattrocento Sans"/>
                <a:sym typeface="Quattrocento Sans"/>
              </a:rPr>
              <a:t>Adults in UAE homes who shower with warm water</a:t>
            </a:r>
            <a:r>
              <a:rPr lang="en" sz="1500" b="1">
                <a:solidFill>
                  <a:srgbClr val="80D6FF"/>
                </a:solidFill>
                <a:latin typeface="Quattrocento Sans"/>
                <a:ea typeface="Quattrocento Sans"/>
                <a:cs typeface="Quattrocento Sans"/>
                <a:sym typeface="Quattrocento Sans"/>
              </a:rPr>
              <a:t xml:space="preserve"> need a way to </a:t>
            </a:r>
            <a:r>
              <a:rPr lang="en" sz="1500" b="1">
                <a:solidFill>
                  <a:srgbClr val="FFFFFF"/>
                </a:solidFill>
                <a:latin typeface="Quattrocento Sans"/>
                <a:ea typeface="Quattrocento Sans"/>
                <a:cs typeface="Quattrocento Sans"/>
                <a:sym typeface="Quattrocento Sans"/>
              </a:rPr>
              <a:t>stop the 3–5 minute warm-up from sending clean water down the drain</a:t>
            </a:r>
            <a:r>
              <a:rPr lang="en" sz="1500" b="1">
                <a:solidFill>
                  <a:srgbClr val="80D6FF"/>
                </a:solidFill>
                <a:latin typeface="Quattrocento Sans"/>
                <a:ea typeface="Quattrocento Sans"/>
                <a:cs typeface="Quattrocento Sans"/>
                <a:sym typeface="Quattrocento Sans"/>
              </a:rPr>
              <a:t xml:space="preserve"> because </a:t>
            </a:r>
            <a:r>
              <a:rPr lang="en" sz="1500" b="1">
                <a:solidFill>
                  <a:srgbClr val="FFFFFF"/>
                </a:solidFill>
                <a:latin typeface="Quattrocento Sans"/>
                <a:ea typeface="Quattrocento Sans"/>
                <a:cs typeface="Quattrocento Sans"/>
                <a:sym typeface="Quattrocento Sans"/>
              </a:rPr>
              <a:t>the wait is passive time — they step out or wait it out — and nobody sees how much is lost.</a:t>
            </a:r>
          </a:p>
        </p:txBody>
      </p:sp>
      <p:sp>
        <p:nvSpPr>
          <p:cNvPr id="9" name="After gains"/>
          <p:cNvSpPr txBox="1"/>
          <p:nvPr/>
        </p:nvSpPr>
        <p:spPr>
          <a:xfrm>
            <a:off x="4983480" y="3977640"/>
            <a:ext cx="36576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200"/>
              </a:spcAft>
              <a:buNone/>
            </a:pPr>
            <a:r>
              <a:rPr lang="en" sz="1200" b="0">
                <a:solidFill>
                  <a:srgbClr val="B5C1CC"/>
                </a:solidFill>
                <a:latin typeface="Quattrocento Sans"/>
                <a:ea typeface="Quattrocento Sans"/>
                <a:cs typeface="Quattrocento Sans"/>
                <a:sym typeface="Quattrocento Sans"/>
              </a:rPr>
              <a:t>Specific user · reported wait (3–5 min)</a:t>
            </a:r>
          </a:p>
          <a:p>
            <a:pPr indent="0" lvl="0" marL="0" marR="0" rtl="0" algn="l">
              <a:spcBef>
                <a:spcPts val="0"/>
              </a:spcBef>
              <a:spcAft>
                <a:spcPts val="0"/>
              </a:spcAft>
              <a:buNone/>
            </a:pPr>
            <a:r>
              <a:rPr lang="en" sz="1200" b="0">
                <a:solidFill>
                  <a:srgbClr val="B5C1CC"/>
                </a:solidFill>
                <a:latin typeface="Quattrocento Sans"/>
                <a:ea typeface="Quattrocento Sans"/>
                <a:cs typeface="Quattrocento Sans"/>
                <a:sym typeface="Quattrocento Sans"/>
              </a:rPr>
              <a:t>self-described behaviour · a reason it persists</a:t>
            </a:r>
          </a:p>
        </p:txBody>
      </p:sp>
      <p:sp>
        <p:nvSpPr>
          <p:cNvPr id="10" name="Footer caveat"/>
          <p:cNvSpPr txBox="1"/>
          <p:nvPr/>
        </p:nvSpPr>
        <p:spPr>
          <a:xfrm>
            <a:off x="566928" y="4791456"/>
            <a:ext cx="7644384"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000" b="0">
                <a:solidFill>
                  <a:srgbClr val="B5C1CC"/>
                </a:solidFill>
                <a:latin typeface="Quattrocento Sans"/>
                <a:ea typeface="Quattrocento Sans"/>
                <a:cs typeface="Quattrocento Sans"/>
                <a:sym typeface="Quattrocento Sans"/>
              </a:rPr>
              <a:t>Before: our v1 framing, paraphrased. After: grounded in interviews 1–2 (27 Sept 2026).</a:t>
            </a:r>
          </a:p>
        </p:txBody>
      </p:sp>
      <p:sp>
        <p:nvSpPr>
          <p:cNvPr id="11" name="Slide number"/>
          <p:cNvSpPr txBox="1"/>
          <p:nvPr/>
        </p:nvSpPr>
        <p:spPr>
          <a:xfrm>
            <a:off x="8357616" y="4791456"/>
            <a:ext cx="356616"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000" b="0">
                <a:solidFill>
                  <a:srgbClr val="B5C1CC"/>
                </a:solidFill>
                <a:latin typeface="Quattrocento Sans"/>
                <a:ea typeface="Quattrocento Sans"/>
                <a:cs typeface="Quattrocento Sans"/>
                <a:sym typeface="Quattrocento Sans"/>
              </a:rPr>
              <a:t>15</a:t>
            </a:r>
          </a:p>
        </p:txBody>
      </p:sp>
    </p:spTree>
  </p:cSld>
  <p:clrMapOvr>
    <a:masterClrMapping/>
  </p:clrMapOvr>
  <mc:AlternateContent xmlns:mc="http://schemas.openxmlformats.org/markup-compatibility/2006" xmlns:p14="http://schemas.microsoft.com/office/powerpoint/2010/main">
    <mc:Choice Requires="p14">
      <p:transition spd="fast" p14:dur="500">
        <p:fade/>
      </p:transition>
    </mc:Choice>
    <mc:Fallback>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4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5080D"/>
        </a:solidFill>
        <a:effectLst/>
      </p:bgPr>
    </p:bg>
    <p:spTree>
      <p:nvGrpSpPr>
        <p:cNvPr id="1" name=""/>
        <p:cNvGrpSpPr/>
        <p:nvPr/>
      </p:nvGrpSpPr>
      <p:grpSpPr/>
      <p:pic>
        <p:nvPicPr>
          <p:cNvPr id="2" name="Photo: dusk" descr="image.png"/>
          <p:cNvPicPr>
            <a:picLocks noChangeAspect="1"/>
          </p:cNvPicPr>
          <p:nvPr/>
        </p:nvPicPr>
        <p:blipFill>
          <a:blip r:embed="rId2"/>
          <a:srcRect r="42000"/>
          <a:stretch>
            <a:fillRect/>
          </a:stretch>
        </p:blipFill>
        <p:spPr>
          <a:xfrm>
            <a:off x="0" y="0"/>
            <a:ext cx="9144000" cy="5143500"/>
          </a:xfrm>
          <a:prstGeom prst="rect">
            <a:avLst/>
          </a:prstGeom>
        </p:spPr>
      </p:pic>
      <p:sp>
        <p:nvSpPr>
          <p:cNvPr id="3" name="Photo overlay"/>
          <p:cNvSpPr/>
          <p:nvPr/>
        </p:nvSpPr>
        <p:spPr>
          <a:xfrm>
            <a:off x="0" y="0"/>
            <a:ext cx="9144000" cy="5143500"/>
          </a:xfrm>
          <a:prstGeom prst="rect">
            <a:avLst/>
          </a:prstGeom>
          <a:solidFill>
            <a:srgbClr val="05080D">
              <a:alpha val="70000"/>
            </a:srgbClr>
          </a:solidFill>
          <a:ln>
            <a:noFill/>
          </a:ln>
        </p:spPr>
        <p:txBody>
          <a:bodyPr anchor="ctr" lIns="0" rIns="0" tIns="0" bIns="0">
            <a:noAutofit/>
          </a:bodyPr>
          <a:lstStyle/>
          <a:p>
            <a:pPr indent="0" lvl="0" marL="0" marR="0" rtl="0" algn="l">
              <a:spcBef>
                <a:spcPts val="0"/>
              </a:spcBef>
              <a:spcAft>
                <a:spcPts val="0"/>
              </a:spcAft>
              <a:buNone/>
            </a:pPr>
          </a:p>
        </p:txBody>
      </p:sp>
      <p:sp>
        <p:nvSpPr>
          <p:cNvPr id="4" name="Section label"/>
          <p:cNvSpPr txBox="1"/>
          <p:nvPr/>
        </p:nvSpPr>
        <p:spPr>
          <a:xfrm>
            <a:off x="566928" y="356616"/>
            <a:ext cx="8001000" cy="2103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100" b="1">
                <a:solidFill>
                  <a:srgbClr val="80D6FF"/>
                </a:solidFill>
                <a:latin typeface="Quattrocento Sans"/>
                <a:ea typeface="Quattrocento Sans"/>
                <a:cs typeface="Quattrocento Sans"/>
                <a:sym typeface="Quattrocento Sans"/>
              </a:rPr>
              <a:t>FIRST DROP  ·  IEN301 PROJECT 1</a:t>
            </a:r>
          </a:p>
        </p:txBody>
      </p:sp>
      <p:sp>
        <p:nvSpPr>
          <p:cNvPr id="5" name="Questions"/>
          <p:cNvSpPr txBox="1"/>
          <p:nvPr/>
        </p:nvSpPr>
        <p:spPr>
          <a:xfrm>
            <a:off x="557784" y="1143000"/>
            <a:ext cx="731520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5400" b="1">
                <a:solidFill>
                  <a:srgbClr val="FFFFFF"/>
                </a:solidFill>
                <a:latin typeface="Quattrocento Sans"/>
                <a:ea typeface="Quattrocento Sans"/>
                <a:cs typeface="Quattrocento Sans"/>
                <a:sym typeface="Quattrocento Sans"/>
              </a:rPr>
              <a:t>Questions?</a:t>
            </a:r>
          </a:p>
        </p:txBody>
      </p:sp>
      <p:sp>
        <p:nvSpPr>
          <p:cNvPr id="6" name="POV small"/>
          <p:cNvSpPr txBox="1"/>
          <p:nvPr/>
        </p:nvSpPr>
        <p:spPr>
          <a:xfrm>
            <a:off x="566928" y="2331720"/>
            <a:ext cx="786384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600"/>
              </a:spcAft>
              <a:buNone/>
            </a:pPr>
            <a:r>
              <a:rPr lang="en" sz="1100" b="1">
                <a:solidFill>
                  <a:srgbClr val="80D6FF"/>
                </a:solidFill>
                <a:latin typeface="Quattrocento Sans"/>
                <a:ea typeface="Quattrocento Sans"/>
                <a:cs typeface="Quattrocento Sans"/>
                <a:sym typeface="Quattrocento Sans"/>
              </a:rPr>
              <a:t>OUR POINT OF VIEW</a:t>
            </a:r>
          </a:p>
          <a:p>
            <a:pPr indent="0" lvl="0" marL="0" marR="0" rtl="0" algn="l">
              <a:lnSpc>
                <a:spcPct val="110000"/>
              </a:lnSpc>
              <a:spcBef>
                <a:spcPts val="0"/>
              </a:spcBef>
              <a:spcAft>
                <a:spcPts val="0"/>
              </a:spcAft>
              <a:buNone/>
            </a:pPr>
            <a:r>
              <a:rPr lang="en" sz="1400" b="0">
                <a:solidFill>
                  <a:srgbClr val="FFFFFF"/>
                </a:solidFill>
                <a:latin typeface="Quattrocento Sans"/>
                <a:ea typeface="Quattrocento Sans"/>
                <a:cs typeface="Quattrocento Sans"/>
                <a:sym typeface="Quattrocento Sans"/>
              </a:rPr>
              <a:t>Adults in UAE homes who shower with warm water</a:t>
            </a:r>
            <a:r>
              <a:rPr lang="en" sz="1400" b="1">
                <a:solidFill>
                  <a:srgbClr val="80D6FF"/>
                </a:solidFill>
                <a:latin typeface="Quattrocento Sans"/>
                <a:ea typeface="Quattrocento Sans"/>
                <a:cs typeface="Quattrocento Sans"/>
                <a:sym typeface="Quattrocento Sans"/>
              </a:rPr>
              <a:t xml:space="preserve"> need a way to </a:t>
            </a:r>
            <a:r>
              <a:rPr lang="en" sz="1400" b="0">
                <a:solidFill>
                  <a:srgbClr val="FFFFFF"/>
                </a:solidFill>
                <a:latin typeface="Quattrocento Sans"/>
                <a:ea typeface="Quattrocento Sans"/>
                <a:cs typeface="Quattrocento Sans"/>
                <a:sym typeface="Quattrocento Sans"/>
              </a:rPr>
              <a:t>stop the 3–5 minute warm-up from sending clean water down the drain</a:t>
            </a:r>
            <a:r>
              <a:rPr lang="en" sz="1400" b="1">
                <a:solidFill>
                  <a:srgbClr val="80D6FF"/>
                </a:solidFill>
                <a:latin typeface="Quattrocento Sans"/>
                <a:ea typeface="Quattrocento Sans"/>
                <a:cs typeface="Quattrocento Sans"/>
                <a:sym typeface="Quattrocento Sans"/>
              </a:rPr>
              <a:t xml:space="preserve"> because </a:t>
            </a:r>
            <a:r>
              <a:rPr lang="en" sz="1400" b="0">
                <a:solidFill>
                  <a:srgbClr val="FFFFFF"/>
                </a:solidFill>
                <a:latin typeface="Quattrocento Sans"/>
                <a:ea typeface="Quattrocento Sans"/>
                <a:cs typeface="Quattrocento Sans"/>
                <a:sym typeface="Quattrocento Sans"/>
              </a:rPr>
              <a:t>the wait is passive time — they step out or wait it out — and nobody sees how much is lost.</a:t>
            </a:r>
          </a:p>
        </p:txBody>
      </p:sp>
      <p:sp>
        <p:nvSpPr>
          <p:cNvPr id="7" name="Footer caveat"/>
          <p:cNvSpPr txBox="1"/>
          <p:nvPr/>
        </p:nvSpPr>
        <p:spPr>
          <a:xfrm>
            <a:off x="566928" y="4791456"/>
            <a:ext cx="7644384"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000" b="0">
                <a:solidFill>
                  <a:srgbClr val="B5C1CC"/>
                </a:solidFill>
                <a:latin typeface="Quattrocento Sans"/>
                <a:ea typeface="Quattrocento Sans"/>
                <a:cs typeface="Quattrocento Sans"/>
                <a:sym typeface="Quattrocento Sans"/>
              </a:rPr>
              <a:t>Omar Hanifa  ·  Mohamed Alkaabi  ·  Khaled Kittaneh  ·  Nour Helal Yousifi  ·  Mohamed Haque   ·   Transcripts on request</a:t>
            </a:r>
          </a:p>
        </p:txBody>
      </p:sp>
      <p:sp>
        <p:nvSpPr>
          <p:cNvPr id="8" name="Slide number"/>
          <p:cNvSpPr txBox="1"/>
          <p:nvPr/>
        </p:nvSpPr>
        <p:spPr>
          <a:xfrm>
            <a:off x="8357616" y="4791456"/>
            <a:ext cx="356616"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000" b="0">
                <a:solidFill>
                  <a:srgbClr val="B5C1CC"/>
                </a:solidFill>
                <a:latin typeface="Quattrocento Sans"/>
                <a:ea typeface="Quattrocento Sans"/>
                <a:cs typeface="Quattrocento Sans"/>
                <a:sym typeface="Quattrocento Sans"/>
              </a:rPr>
              <a:t>16</a:t>
            </a:r>
          </a:p>
        </p:txBody>
      </p:sp>
    </p:spTree>
  </p:cSld>
  <p:clrMapOvr>
    <a:masterClrMapping/>
  </p:clrMapOvr>
  <mc:AlternateContent xmlns:mc="http://schemas.openxmlformats.org/markup-compatibility/2006" xmlns:p14="http://schemas.microsoft.com/office/powerpoint/2010/main">
    <mc:Choice Requires="p14">
      <p:transition spd="fast" p14:dur="500">
        <p:fade/>
      </p:transition>
    </mc:Choice>
    <mc:Fallback>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32.xml><?xml version="1.0" encoding="utf-8"?>
<p:sld xmlns:a="http://schemas.openxmlformats.org/drawingml/2006/main" xmlns:p="http://schemas.openxmlformats.org/presentationml/2006/main" xmlns:r="http://schemas.openxmlformats.org/officeDocument/2006/relationships" show="0">
  <p:cSld>
    <p:bg>
      <p:bgPr>
        <a:solidFill>
          <a:srgbClr val="F5F7F9"/>
        </a:solidFill>
        <a:effectLst/>
      </p:bgPr>
    </p:bg>
    <p:spTree>
      <p:nvGrpSpPr>
        <p:cNvPr id="1" name=""/>
        <p:cNvGrpSpPr/>
        <p:nvPr/>
      </p:nvGrpSpPr>
      <p:grpSpPr/>
      <p:sp>
        <p:nvSpPr>
          <p:cNvPr id="2" name="Section label"/>
          <p:cNvSpPr txBox="1"/>
          <p:nvPr/>
        </p:nvSpPr>
        <p:spPr>
          <a:xfrm>
            <a:off x="566928" y="356616"/>
            <a:ext cx="8001000" cy="2103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100" b="1">
                <a:solidFill>
                  <a:srgbClr val="006FE8"/>
                </a:solidFill>
                <a:latin typeface="Quattrocento Sans"/>
                <a:ea typeface="Quattrocento Sans"/>
                <a:cs typeface="Quattrocento Sans"/>
                <a:sym typeface="Quattrocento Sans"/>
              </a:rPr>
              <a:t>APPENDIX (HIDDEN) — CLAIM TO RECORDING MAP</a:t>
            </a:r>
          </a:p>
        </p:txBody>
      </p:sp>
      <p:sp>
        <p:nvSpPr>
          <p:cNvPr id="3" name="Headline"/>
          <p:cNvSpPr txBox="1"/>
          <p:nvPr/>
        </p:nvSpPr>
        <p:spPr>
          <a:xfrm>
            <a:off x="539496" y="658368"/>
            <a:ext cx="8138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2000" b="1">
                <a:solidFill>
                  <a:srgbClr val="111820"/>
                </a:solidFill>
                <a:latin typeface="Quattrocento Sans"/>
                <a:ea typeface="Quattrocento Sans"/>
                <a:cs typeface="Quattrocento Sans"/>
                <a:sym typeface="Quattrocento Sans"/>
              </a:rPr>
              <a:t>Every on-slide claim, and where to hear it</a:t>
            </a:r>
          </a:p>
        </p:txBody>
      </p:sp>
      <p:graphicFrame>
        <p:nvGraphicFramePr>
          <p:cNvPr id="4" name="Claim map table"/>
          <p:cNvGraphicFramePr>
            <a:graphicFrameLocks noGrp="1"/>
          </p:cNvGraphicFramePr>
          <p:nvPr/>
        </p:nvGraphicFramePr>
        <p:xfrm>
          <a:off x="566928" y="1097280"/>
          <a:ext cx="7955280" cy="2414016"/>
        </p:xfrm>
        <a:graphic>
          <a:graphicData uri="http://schemas.openxmlformats.org/drawingml/2006/table">
            <a:tbl>
              <a:tblPr>
                <a:tableStyleId>{609977B7-E36E-42CD-BEEE-EC8A0416F217}</a:tableStyleId>
              </a:tblPr>
              <a:tblGrid>
                <a:gridCol w="685800"/>
                <a:gridCol w="2834640"/>
                <a:gridCol w="868680"/>
                <a:gridCol w="685800"/>
                <a:gridCol w="2880360"/>
              </a:tblGrid>
              <a:tr h="219456">
                <a:tc>
                  <a:txBody>
                    <a:bodyPr/>
                    <a:lstStyle/>
                    <a:p>
                      <a:r>
                        <a:rPr sz="1000" b="1">
                          <a:solidFill>
                            <a:srgbClr val="006FE8"/>
                          </a:solidFill>
                          <a:latin typeface="Quattrocento Sans"/>
                        </a:rPr>
                        <a:t>Slides</a:t>
                      </a:r>
                    </a:p>
                  </a:txBody>
                  <a:tcPr marL="0" marR="73152" marT="27432" marB="27432">
                    <a:lnL w="7150" cap="flat" cmpd="sng">
                      <a:noFill/>
                    </a:lnL>
                    <a:lnR w="7150" cap="flat" cmpd="sng">
                      <a:noFill/>
                    </a:lnR>
                    <a:lnT w="7150" cap="flat" cmpd="sng">
                      <a:noFill/>
                    </a:lnT>
                    <a:lnB w="7150" cap="flat" cmpd="sng">
                      <a:solidFill>
                        <a:srgbClr val="D7DFE5"/>
                      </a:solidFill>
                    </a:lnB>
                    <a:solidFill>
                      <a:srgbClr val="F5F7F9"/>
                    </a:solidFill>
                  </a:tcPr>
                </a:tc>
                <a:tc>
                  <a:txBody>
                    <a:bodyPr/>
                    <a:lstStyle/>
                    <a:p>
                      <a:r>
                        <a:rPr sz="1000" b="1">
                          <a:solidFill>
                            <a:srgbClr val="006FE8"/>
                          </a:solidFill>
                          <a:latin typeface="Quattrocento Sans"/>
                        </a:rPr>
                        <a:t>Claim(s) on slide</a:t>
                      </a:r>
                    </a:p>
                  </a:txBody>
                  <a:tcPr marL="0" marR="73152" marT="27432" marB="27432">
                    <a:lnL w="7150" cap="flat" cmpd="sng">
                      <a:noFill/>
                    </a:lnL>
                    <a:lnR w="7150" cap="flat" cmpd="sng">
                      <a:noFill/>
                    </a:lnR>
                    <a:lnT w="7150" cap="flat" cmpd="sng">
                      <a:noFill/>
                    </a:lnT>
                    <a:lnB w="7150" cap="flat" cmpd="sng">
                      <a:solidFill>
                        <a:srgbClr val="D7DFE5"/>
                      </a:solidFill>
                    </a:lnB>
                    <a:solidFill>
                      <a:srgbClr val="F5F7F9"/>
                    </a:solidFill>
                  </a:tcPr>
                </a:tc>
                <a:tc>
                  <a:txBody>
                    <a:bodyPr/>
                    <a:lstStyle/>
                    <a:p>
                      <a:r>
                        <a:rPr sz="1000" b="1">
                          <a:solidFill>
                            <a:srgbClr val="006FE8"/>
                          </a:solidFill>
                          <a:latin typeface="Quattrocento Sans"/>
                        </a:rPr>
                        <a:t>Source</a:t>
                      </a:r>
                    </a:p>
                  </a:txBody>
                  <a:tcPr marL="0" marR="73152" marT="27432" marB="27432">
                    <a:lnL w="7150" cap="flat" cmpd="sng">
                      <a:noFill/>
                    </a:lnL>
                    <a:lnR w="7150" cap="flat" cmpd="sng">
                      <a:noFill/>
                    </a:lnR>
                    <a:lnT w="7150" cap="flat" cmpd="sng">
                      <a:noFill/>
                    </a:lnT>
                    <a:lnB w="7150" cap="flat" cmpd="sng">
                      <a:solidFill>
                        <a:srgbClr val="D7DFE5"/>
                      </a:solidFill>
                    </a:lnB>
                    <a:solidFill>
                      <a:srgbClr val="F5F7F9"/>
                    </a:solidFill>
                  </a:tcPr>
                </a:tc>
                <a:tc>
                  <a:txBody>
                    <a:bodyPr/>
                    <a:lstStyle/>
                    <a:p>
                      <a:r>
                        <a:rPr sz="1000" b="1">
                          <a:solidFill>
                            <a:srgbClr val="006FE8"/>
                          </a:solidFill>
                          <a:latin typeface="Quattrocento Sans"/>
                        </a:rPr>
                        <a:t>Time</a:t>
                      </a:r>
                    </a:p>
                  </a:txBody>
                  <a:tcPr marL="0" marR="73152" marT="27432" marB="27432">
                    <a:lnL w="7150" cap="flat" cmpd="sng">
                      <a:noFill/>
                    </a:lnL>
                    <a:lnR w="7150" cap="flat" cmpd="sng">
                      <a:noFill/>
                    </a:lnR>
                    <a:lnT w="7150" cap="flat" cmpd="sng">
                      <a:noFill/>
                    </a:lnT>
                    <a:lnB w="7150" cap="flat" cmpd="sng">
                      <a:solidFill>
                        <a:srgbClr val="D7DFE5"/>
                      </a:solidFill>
                    </a:lnB>
                    <a:solidFill>
                      <a:srgbClr val="F5F7F9"/>
                    </a:solidFill>
                  </a:tcPr>
                </a:tc>
                <a:tc>
                  <a:txBody>
                    <a:bodyPr/>
                    <a:lstStyle/>
                    <a:p>
                      <a:r>
                        <a:rPr sz="1000" b="1">
                          <a:solidFill>
                            <a:srgbClr val="006FE8"/>
                          </a:solidFill>
                          <a:latin typeface="Quattrocento Sans"/>
                        </a:rPr>
                        <a:t>Verbatim</a:t>
                      </a:r>
                    </a:p>
                  </a:txBody>
                  <a:tcPr marL="0" marR="73152" marT="27432" marB="27432">
                    <a:lnL w="7150" cap="flat" cmpd="sng">
                      <a:noFill/>
                    </a:lnL>
                    <a:lnR w="7150" cap="flat" cmpd="sng">
                      <a:noFill/>
                    </a:lnR>
                    <a:lnT w="7150" cap="flat" cmpd="sng">
                      <a:noFill/>
                    </a:lnT>
                    <a:lnB w="7150" cap="flat" cmpd="sng">
                      <a:solidFill>
                        <a:srgbClr val="D7DFE5"/>
                      </a:solidFill>
                    </a:lnB>
                    <a:solidFill>
                      <a:srgbClr val="F5F7F9"/>
                    </a:solidFill>
                  </a:tcPr>
                </a:tc>
              </a:tr>
              <a:tr h="219456">
                <a:tc>
                  <a:txBody>
                    <a:bodyPr/>
                    <a:lstStyle/>
                    <a:p>
                      <a:r>
                        <a:rPr sz="900" b="0">
                          <a:solidFill>
                            <a:srgbClr val="111820"/>
                          </a:solidFill>
                          <a:latin typeface="Quattrocento Sans"/>
                        </a:rPr>
                        <a:t>3, 5, 6, 7, 8, 9, 10, 14</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1">
                          <a:solidFill>
                            <a:srgbClr val="111820"/>
                          </a:solidFill>
                          <a:latin typeface="Quattrocento Sans"/>
                        </a:rPr>
                        <a:t>Wait 3–4 min; Reported waits 3–5 min; about 35 L per shower at 4 min</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Interview 1</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00:22</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About 3 to 4 minutes.</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r>
              <a:tr h="219456">
                <a:tc>
                  <a:txBody>
                    <a:bodyPr/>
                    <a:lstStyle/>
                    <a:p>
                      <a:r>
                        <a:rPr sz="900" b="0">
                          <a:solidFill>
                            <a:srgbClr val="111820"/>
                          </a:solidFill>
                          <a:latin typeface="Quattrocento Sans"/>
                        </a:rPr>
                        <a:t>7, 8, 10, 11, 14</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1">
                          <a:solidFill>
                            <a:srgbClr val="111820"/>
                          </a:solidFill>
                          <a:latin typeface="Quattrocento Sans"/>
                        </a:rPr>
                        <a:t>at least a bucket; Nobody measures the loss</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Interview 1</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00:34</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No idea, but I think it's about… I would say at least a bucket.</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r>
              <a:tr h="219456">
                <a:tc>
                  <a:txBody>
                    <a:bodyPr/>
                    <a:lstStyle/>
                    <a:p>
                      <a:r>
                        <a:rPr sz="900" b="0">
                          <a:solidFill>
                            <a:srgbClr val="111820"/>
                          </a:solidFill>
                          <a:latin typeface="Quattrocento Sans"/>
                        </a:rPr>
                        <a:t>3, 6, 7, 8, 10, 11, 12, 14</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1">
                          <a:solidFill>
                            <a:srgbClr val="111820"/>
                          </a:solidFill>
                          <a:latin typeface="Quattrocento Sans"/>
                        </a:rPr>
                        <a:t>Waits outside the bathroom; waiting outside</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Interview 1</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00:45</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I'm waiting outside.</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r>
              <a:tr h="219456">
                <a:tc>
                  <a:txBody>
                    <a:bodyPr/>
                    <a:lstStyle/>
                    <a:p>
                      <a:r>
                        <a:rPr sz="900" b="0">
                          <a:solidFill>
                            <a:srgbClr val="111820"/>
                          </a:solidFill>
                          <a:latin typeface="Quattrocento Sans"/>
                        </a:rPr>
                        <a:t>6, 8, 11, 12</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1">
                          <a:solidFill>
                            <a:srgbClr val="111820"/>
                          </a:solidFill>
                          <a:latin typeface="Quattrocento Sans"/>
                        </a:rPr>
                        <a:t>Water goes down the drain (both); nothing collected</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Interview 1</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00:56</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No, it just goes down the drain.</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r>
              <a:tr h="219456">
                <a:tc>
                  <a:txBody>
                    <a:bodyPr/>
                    <a:lstStyle/>
                    <a:p>
                      <a:r>
                        <a:rPr sz="900" b="0">
                          <a:solidFill>
                            <a:srgbClr val="111820"/>
                          </a:solidFill>
                          <a:latin typeface="Quattrocento Sans"/>
                        </a:rPr>
                        <a:t>3, 5, 6, 8, 9, 10, 14</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1">
                          <a:solidFill>
                            <a:srgbClr val="111820"/>
                          </a:solidFill>
                          <a:latin typeface="Quattrocento Sans"/>
                        </a:rPr>
                        <a:t>Wait 3–5 min; Reported waits 3–5 min</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Interview 2</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00:16</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Three to five minutes.</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r>
              <a:tr h="219456">
                <a:tc>
                  <a:txBody>
                    <a:bodyPr/>
                    <a:lstStyle/>
                    <a:p>
                      <a:r>
                        <a:rPr sz="900" b="0">
                          <a:solidFill>
                            <a:srgbClr val="111820"/>
                          </a:solidFill>
                          <a:latin typeface="Quattrocento Sans"/>
                        </a:rPr>
                        <a:t>8, 11</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1">
                          <a:solidFill>
                            <a:srgbClr val="111820"/>
                          </a:solidFill>
                          <a:latin typeface="Quattrocento Sans"/>
                        </a:rPr>
                        <a:t>Nobody measures the loss; cannot estimate the loss</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Interview 2</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00:30</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I don't know the exact number, but probably a lot.</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r>
              <a:tr h="219456">
                <a:tc>
                  <a:txBody>
                    <a:bodyPr/>
                    <a:lstStyle/>
                    <a:p>
                      <a:r>
                        <a:rPr sz="900" b="0">
                          <a:solidFill>
                            <a:srgbClr val="111820"/>
                          </a:solidFill>
                          <a:latin typeface="Quattrocento Sans"/>
                        </a:rPr>
                        <a:t>3, 6, 7, 8, 10, 11, 12, 14</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1">
                          <a:solidFill>
                            <a:srgbClr val="111820"/>
                          </a:solidFill>
                          <a:latin typeface="Quattrocento Sans"/>
                        </a:rPr>
                        <a:t>Stays in the bathroom; let it run and sit there</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Interview 2</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00:40</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I just let the water run until it gets warm and just sit there.</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r>
              <a:tr h="219456">
                <a:tc>
                  <a:txBody>
                    <a:bodyPr/>
                    <a:lstStyle/>
                    <a:p>
                      <a:r>
                        <a:rPr sz="900" b="0">
                          <a:solidFill>
                            <a:srgbClr val="111820"/>
                          </a:solidFill>
                          <a:latin typeface="Quattrocento Sans"/>
                        </a:rPr>
                        <a:t>6, 8, 11, 12</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1">
                          <a:solidFill>
                            <a:srgbClr val="111820"/>
                          </a:solidFill>
                          <a:latin typeface="Quattrocento Sans"/>
                        </a:rPr>
                        <a:t>Water goes down the drain (both); nothing collected</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Interview 2</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00:52</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Nothing, it just… / Yeah.</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r>
              <a:tr h="219456">
                <a:tc>
                  <a:txBody>
                    <a:bodyPr/>
                    <a:lstStyle/>
                    <a:p>
                      <a:r>
                        <a:rPr sz="900" b="0">
                          <a:solidFill>
                            <a:srgbClr val="111820"/>
                          </a:solidFill>
                          <a:latin typeface="Quattrocento Sans"/>
                        </a:rPr>
                        <a:t>3, 6, 8, 9, 11, 12</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1">
                          <a:solidFill>
                            <a:srgbClr val="111820"/>
                          </a:solidFill>
                          <a:latin typeface="Quattrocento Sans"/>
                        </a:rPr>
                        <a:t>Winter, home type, heating setup, tenure, routine — NOT covered</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Caveats in slide footers; evidence file §1</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r>
              <a:tr h="219456">
                <a:tc>
                  <a:txBody>
                    <a:bodyPr/>
                    <a:lstStyle/>
                    <a:p>
                      <a:r>
                        <a:rPr sz="900" b="0">
                          <a:solidFill>
                            <a:srgbClr val="111820"/>
                          </a:solidFill>
                          <a:latin typeface="Quattrocento Sans"/>
                        </a:rPr>
                        <a:t>—</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1">
                          <a:solidFill>
                            <a:srgbClr val="111820"/>
                          </a:solidFill>
                          <a:latin typeface="Quattrocento Sans"/>
                        </a:rPr>
                        <a:t>Interviewer-supplied figures (6–12 L/min; 30,000 L/yr) — NOT used</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Interviews 1, 2</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01:03; 00:58</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c>
                  <a:txBody>
                    <a:bodyPr/>
                    <a:lstStyle/>
                    <a:p>
                      <a:r>
                        <a:rPr sz="900" b="0">
                          <a:solidFill>
                            <a:srgbClr val="52606D"/>
                          </a:solidFill>
                          <a:latin typeface="Quattrocento Sans"/>
                        </a:rPr>
                        <a:t>Said by the interviewer, unsourced</a:t>
                      </a:r>
                    </a:p>
                  </a:txBody>
                  <a:tcPr marL="0" marR="73152" marT="27432" marB="27432">
                    <a:lnL w="7150" cap="flat" cmpd="sng">
                      <a:noFill/>
                    </a:lnL>
                    <a:lnR w="7150" cap="flat" cmpd="sng">
                      <a:noFill/>
                    </a:lnR>
                    <a:lnT w="7150" cap="flat" cmpd="sng">
                      <a:solidFill>
                        <a:srgbClr val="D7DFE5"/>
                      </a:solidFill>
                    </a:lnT>
                    <a:lnB w="7150" cap="flat" cmpd="sng">
                      <a:solidFill>
                        <a:srgbClr val="D7DFE5"/>
                      </a:solidFill>
                    </a:lnB>
                    <a:solidFill>
                      <a:srgbClr val="F5F7F9"/>
                    </a:solidFill>
                  </a:tcPr>
                </a:tc>
              </a:tr>
            </a:tbl>
          </a:graphicData>
        </a:graphic>
      </p:graphicFrame>
      <p:sp>
        <p:nvSpPr>
          <p:cNvPr id="5" name="Footer caveat"/>
          <p:cNvSpPr txBox="1"/>
          <p:nvPr/>
        </p:nvSpPr>
        <p:spPr>
          <a:xfrm>
            <a:off x="566928" y="4791456"/>
            <a:ext cx="7644384"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000" b="0">
                <a:solidFill>
                  <a:srgbClr val="52606D"/>
                </a:solidFill>
                <a:latin typeface="Quattrocento Sans"/>
                <a:ea typeface="Quattrocento Sans"/>
                <a:cs typeface="Quattrocento Sans"/>
                <a:sym typeface="Quattrocento Sans"/>
              </a:rPr>
              <a:t>Hidden appendix for Q&amp;A. Timestamps are mm:ss in each video. Full transcripts: interview_1.md, interview_2.md; evidence.md.</a:t>
            </a:r>
          </a:p>
        </p:txBody>
      </p:sp>
      <p:sp>
        <p:nvSpPr>
          <p:cNvPr id="6" name="Slide number"/>
          <p:cNvSpPr txBox="1"/>
          <p:nvPr/>
        </p:nvSpPr>
        <p:spPr>
          <a:xfrm>
            <a:off x="8357616" y="4791456"/>
            <a:ext cx="356616" cy="1920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000" b="0">
                <a:solidFill>
                  <a:srgbClr val="52606D"/>
                </a:solidFill>
                <a:latin typeface="Quattrocento Sans"/>
                <a:ea typeface="Quattrocento Sans"/>
                <a:cs typeface="Quattrocento Sans"/>
                <a:sym typeface="Quattrocento Sans"/>
              </a:rPr>
              <a:t>17</a:t>
            </a:r>
          </a:p>
        </p:txBody>
      </p:sp>
    </p:spTree>
  </p:cSld>
  <p:clrMapOvr>
    <a:masterClrMapping/>
  </p:clrMapOvr>
  <mc:AlternateContent xmlns:mc="http://schemas.openxmlformats.org/markup-compatibility/2006" xmlns:p14="http://schemas.microsoft.com/office/powerpoint/2010/main">
    <mc:Choice Requires="p14">
      <p:transition spd="fast" p14:dur="500">
        <p:fade/>
      </p:transition>
    </mc:Choice>
    <mc:Fallback>
      <p:transition spd="fast">
        <p:fade/>
      </p:transition>
    </mc:Fallback>
  </mc:AlternateContent>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